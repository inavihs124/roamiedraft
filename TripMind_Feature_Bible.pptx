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59E0B"/>
          </a:solidFill>
          <a:ln w="12700">
            <a:solidFill>
              <a:srgbClr val="F59E0B"/>
            </a:solidFill>
            <a:prstDash val="solid"/>
          </a:ln>
        </p:spPr>
      </p:sp>
      <p:sp>
        <p:nvSpPr>
          <p:cNvPr id="3" name="Shape 1"/>
          <p:cNvSpPr/>
          <p:nvPr/>
        </p:nvSpPr>
        <p:spPr>
          <a:xfrm>
            <a:off x="0" y="4389120"/>
            <a:ext cx="9144000" cy="754380"/>
          </a:xfrm>
          <a:prstGeom prst="rect">
            <a:avLst/>
          </a:prstGeom>
          <a:solidFill>
            <a:srgbClr val="0F1320"/>
          </a:solidFill>
          <a:ln w="12700">
            <a:solidFill>
              <a:srgbClr val="1E2640"/>
            </a:solidFill>
            <a:prstDash val="solid"/>
          </a:ln>
        </p:spPr>
      </p:sp>
      <p:sp>
        <p:nvSpPr>
          <p:cNvPr id="4" name="Text 2"/>
          <p:cNvSpPr/>
          <p:nvPr/>
        </p:nvSpPr>
        <p:spPr>
          <a:xfrm>
            <a:off x="228600" y="914400"/>
            <a:ext cx="8686800" cy="1005840"/>
          </a:xfrm>
          <a:prstGeom prst="rect">
            <a:avLst/>
          </a:prstGeom>
          <a:noFill/>
          <a:ln/>
        </p:spPr>
        <p:txBody>
          <a:bodyPr wrap="square" lIns="0" tIns="0" rIns="0" bIns="0" rtlCol="0" anchor="ctr"/>
          <a:lstStyle/>
          <a:p>
            <a:pPr algn="ctr" indent="0" marL="0">
              <a:buNone/>
            </a:pPr>
            <a:r>
              <a:rPr lang="en-US" sz="7200" b="1" dirty="0">
                <a:solidFill>
                  <a:srgbClr val="F59E0B"/>
                </a:solidFill>
                <a:latin typeface="Arial" pitchFamily="34" charset="0"/>
                <a:ea typeface="Arial" pitchFamily="34" charset="-122"/>
                <a:cs typeface="Arial" pitchFamily="34" charset="-120"/>
              </a:rPr>
              <a:t>TripMind</a:t>
            </a:r>
            <a:endParaRPr lang="en-US" sz="7200" dirty="0"/>
          </a:p>
        </p:txBody>
      </p:sp>
      <p:sp>
        <p:nvSpPr>
          <p:cNvPr id="5" name="Text 3"/>
          <p:cNvSpPr/>
          <p:nvPr/>
        </p:nvSpPr>
        <p:spPr>
          <a:xfrm>
            <a:off x="228600" y="1965960"/>
            <a:ext cx="8686800" cy="457200"/>
          </a:xfrm>
          <a:prstGeom prst="rect">
            <a:avLst/>
          </a:prstGeom>
          <a:noFill/>
          <a:ln/>
        </p:spPr>
        <p:txBody>
          <a:bodyPr wrap="square" lIns="0" tIns="0" rIns="0" bIns="0" rtlCol="0" anchor="ctr"/>
          <a:lstStyle/>
          <a:p>
            <a:pPr algn="ctr" indent="0" marL="0">
              <a:buNone/>
            </a:pPr>
            <a:r>
              <a:rPr lang="en-US" sz="2000" dirty="0">
                <a:solidFill>
                  <a:srgbClr val="8892A4"/>
                </a:solidFill>
                <a:latin typeface="Arial" pitchFamily="34" charset="0"/>
                <a:ea typeface="Arial" pitchFamily="34" charset="-122"/>
                <a:cs typeface="Arial" pitchFamily="34" charset="-120"/>
              </a:rPr>
              <a:t>Feature Bible  ·  All 21 Features Explained</a:t>
            </a:r>
            <a:endParaRPr lang="en-US" sz="2000" dirty="0"/>
          </a:p>
        </p:txBody>
      </p:sp>
      <p:sp>
        <p:nvSpPr>
          <p:cNvPr id="6" name="Text 4"/>
          <p:cNvSpPr/>
          <p:nvPr/>
        </p:nvSpPr>
        <p:spPr>
          <a:xfrm>
            <a:off x="228600" y="2487168"/>
            <a:ext cx="8686800" cy="365760"/>
          </a:xfrm>
          <a:prstGeom prst="rect">
            <a:avLst/>
          </a:prstGeom>
          <a:noFill/>
          <a:ln/>
        </p:spPr>
        <p:txBody>
          <a:bodyPr wrap="square" lIns="0" tIns="0" rIns="0" bIns="0" rtlCol="0" anchor="ctr"/>
          <a:lstStyle/>
          <a:p>
            <a:pPr algn="ctr" indent="0" marL="0">
              <a:buNone/>
            </a:pPr>
            <a:r>
              <a:rPr lang="en-US" sz="1400" i="1" dirty="0">
                <a:solidFill>
                  <a:srgbClr val="4A5568"/>
                </a:solidFill>
                <a:latin typeface="Arial" pitchFamily="34" charset="0"/>
                <a:ea typeface="Arial" pitchFamily="34" charset="-122"/>
                <a:cs typeface="Arial" pitchFamily="34" charset="-120"/>
              </a:rPr>
              <a:t>What each feature does  ·  How it impacts the user  ·  How to build it</a:t>
            </a:r>
            <a:endParaRPr lang="en-US" sz="1400" dirty="0"/>
          </a:p>
        </p:txBody>
      </p:sp>
      <p:sp>
        <p:nvSpPr>
          <p:cNvPr id="7" name="Shape 5"/>
          <p:cNvSpPr/>
          <p:nvPr/>
        </p:nvSpPr>
        <p:spPr>
          <a:xfrm>
            <a:off x="3200400" y="2971800"/>
            <a:ext cx="2743200" cy="0"/>
          </a:xfrm>
          <a:prstGeom prst="line">
            <a:avLst/>
          </a:prstGeom>
          <a:noFill/>
          <a:ln w="12700">
            <a:solidFill>
              <a:srgbClr val="F59E0B"/>
            </a:solidFill>
            <a:prstDash val="solid"/>
          </a:ln>
        </p:spPr>
      </p:sp>
      <p:sp>
        <p:nvSpPr>
          <p:cNvPr id="8" name="Shape 6"/>
          <p:cNvSpPr/>
          <p:nvPr/>
        </p:nvSpPr>
        <p:spPr>
          <a:xfrm>
            <a:off x="457200" y="3200400"/>
            <a:ext cx="1920240" cy="475488"/>
          </a:xfrm>
          <a:prstGeom prst="rect">
            <a:avLst/>
          </a:prstGeom>
          <a:solidFill>
            <a:srgbClr val="161B2E"/>
          </a:solidFill>
          <a:ln w="12700">
            <a:solidFill>
              <a:srgbClr val="1E2640"/>
            </a:solidFill>
            <a:prstDash val="solid"/>
          </a:ln>
        </p:spPr>
      </p:sp>
      <p:sp>
        <p:nvSpPr>
          <p:cNvPr id="9" name="Text 7"/>
          <p:cNvSpPr/>
          <p:nvPr/>
        </p:nvSpPr>
        <p:spPr>
          <a:xfrm>
            <a:off x="457200" y="3200400"/>
            <a:ext cx="1920240" cy="475488"/>
          </a:xfrm>
          <a:prstGeom prst="rect">
            <a:avLst/>
          </a:prstGeom>
          <a:noFill/>
          <a:ln/>
        </p:spPr>
        <p:txBody>
          <a:bodyPr wrap="square" lIns="0" tIns="0" rIns="0" bIns="0" rtlCol="0" anchor="ctr"/>
          <a:lstStyle/>
          <a:p>
            <a:pPr algn="ctr" indent="0" marL="0">
              <a:buNone/>
            </a:pPr>
            <a:r>
              <a:rPr lang="en-US" sz="1100" b="1" dirty="0">
                <a:solidFill>
                  <a:srgbClr val="F0F2F8"/>
                </a:solidFill>
                <a:latin typeface="Arial" pitchFamily="34" charset="0"/>
                <a:ea typeface="Arial" pitchFamily="34" charset="-122"/>
                <a:cs typeface="Arial" pitchFamily="34" charset="-120"/>
              </a:rPr>
              <a:t>21 Features</a:t>
            </a:r>
            <a:endParaRPr lang="en-US" sz="1100" dirty="0"/>
          </a:p>
        </p:txBody>
      </p:sp>
      <p:sp>
        <p:nvSpPr>
          <p:cNvPr id="10" name="Shape 8"/>
          <p:cNvSpPr/>
          <p:nvPr/>
        </p:nvSpPr>
        <p:spPr>
          <a:xfrm>
            <a:off x="2542032" y="3200400"/>
            <a:ext cx="1920240" cy="475488"/>
          </a:xfrm>
          <a:prstGeom prst="rect">
            <a:avLst/>
          </a:prstGeom>
          <a:solidFill>
            <a:srgbClr val="161B2E"/>
          </a:solidFill>
          <a:ln w="12700">
            <a:solidFill>
              <a:srgbClr val="1E2640"/>
            </a:solidFill>
            <a:prstDash val="solid"/>
          </a:ln>
        </p:spPr>
      </p:sp>
      <p:sp>
        <p:nvSpPr>
          <p:cNvPr id="11" name="Text 9"/>
          <p:cNvSpPr/>
          <p:nvPr/>
        </p:nvSpPr>
        <p:spPr>
          <a:xfrm>
            <a:off x="2542032" y="3200400"/>
            <a:ext cx="1920240" cy="475488"/>
          </a:xfrm>
          <a:prstGeom prst="rect">
            <a:avLst/>
          </a:prstGeom>
          <a:noFill/>
          <a:ln/>
        </p:spPr>
        <p:txBody>
          <a:bodyPr wrap="square" lIns="0" tIns="0" rIns="0" bIns="0" rtlCol="0" anchor="ctr"/>
          <a:lstStyle/>
          <a:p>
            <a:pPr algn="ctr" indent="0" marL="0">
              <a:buNone/>
            </a:pPr>
            <a:r>
              <a:rPr lang="en-US" sz="1100" b="1" dirty="0">
                <a:solidFill>
                  <a:srgbClr val="F0F2F8"/>
                </a:solidFill>
                <a:latin typeface="Arial" pitchFamily="34" charset="0"/>
                <a:ea typeface="Arial" pitchFamily="34" charset="-122"/>
                <a:cs typeface="Arial" pitchFamily="34" charset="-120"/>
              </a:rPr>
              <a:t>3 Modules</a:t>
            </a:r>
            <a:endParaRPr lang="en-US" sz="1100" dirty="0"/>
          </a:p>
        </p:txBody>
      </p:sp>
      <p:sp>
        <p:nvSpPr>
          <p:cNvPr id="12" name="Shape 10"/>
          <p:cNvSpPr/>
          <p:nvPr/>
        </p:nvSpPr>
        <p:spPr>
          <a:xfrm>
            <a:off x="4626864" y="3200400"/>
            <a:ext cx="1920240" cy="475488"/>
          </a:xfrm>
          <a:prstGeom prst="rect">
            <a:avLst/>
          </a:prstGeom>
          <a:solidFill>
            <a:srgbClr val="161B2E"/>
          </a:solidFill>
          <a:ln w="12700">
            <a:solidFill>
              <a:srgbClr val="1E2640"/>
            </a:solidFill>
            <a:prstDash val="solid"/>
          </a:ln>
        </p:spPr>
      </p:sp>
      <p:sp>
        <p:nvSpPr>
          <p:cNvPr id="13" name="Text 11"/>
          <p:cNvSpPr/>
          <p:nvPr/>
        </p:nvSpPr>
        <p:spPr>
          <a:xfrm>
            <a:off x="4626864" y="3200400"/>
            <a:ext cx="1920240" cy="475488"/>
          </a:xfrm>
          <a:prstGeom prst="rect">
            <a:avLst/>
          </a:prstGeom>
          <a:noFill/>
          <a:ln/>
        </p:spPr>
        <p:txBody>
          <a:bodyPr wrap="square" lIns="0" tIns="0" rIns="0" bIns="0" rtlCol="0" anchor="ctr"/>
          <a:lstStyle/>
          <a:p>
            <a:pPr algn="ctr" indent="0" marL="0">
              <a:buNone/>
            </a:pPr>
            <a:r>
              <a:rPr lang="en-US" sz="1100" b="1" dirty="0">
                <a:solidFill>
                  <a:srgbClr val="F0F2F8"/>
                </a:solidFill>
                <a:latin typeface="Arial" pitchFamily="34" charset="0"/>
                <a:ea typeface="Arial" pitchFamily="34" charset="-122"/>
                <a:cs typeface="Arial" pitchFamily="34" charset="-120"/>
              </a:rPr>
              <a:t>0 Paid APIs</a:t>
            </a:r>
            <a:endParaRPr lang="en-US" sz="1100" dirty="0"/>
          </a:p>
        </p:txBody>
      </p:sp>
      <p:sp>
        <p:nvSpPr>
          <p:cNvPr id="14" name="Shape 12"/>
          <p:cNvSpPr/>
          <p:nvPr/>
        </p:nvSpPr>
        <p:spPr>
          <a:xfrm>
            <a:off x="6711696" y="3200400"/>
            <a:ext cx="1920240" cy="475488"/>
          </a:xfrm>
          <a:prstGeom prst="rect">
            <a:avLst/>
          </a:prstGeom>
          <a:solidFill>
            <a:srgbClr val="161B2E"/>
          </a:solidFill>
          <a:ln w="12700">
            <a:solidFill>
              <a:srgbClr val="1E2640"/>
            </a:solidFill>
            <a:prstDash val="solid"/>
          </a:ln>
        </p:spPr>
      </p:sp>
      <p:sp>
        <p:nvSpPr>
          <p:cNvPr id="15" name="Text 13"/>
          <p:cNvSpPr/>
          <p:nvPr/>
        </p:nvSpPr>
        <p:spPr>
          <a:xfrm>
            <a:off x="6711696" y="3200400"/>
            <a:ext cx="1920240" cy="475488"/>
          </a:xfrm>
          <a:prstGeom prst="rect">
            <a:avLst/>
          </a:prstGeom>
          <a:noFill/>
          <a:ln/>
        </p:spPr>
        <p:txBody>
          <a:bodyPr wrap="square" lIns="0" tIns="0" rIns="0" bIns="0" rtlCol="0" anchor="ctr"/>
          <a:lstStyle/>
          <a:p>
            <a:pPr algn="ctr" indent="0" marL="0">
              <a:buNone/>
            </a:pPr>
            <a:r>
              <a:rPr lang="en-US" sz="1100" b="1" dirty="0">
                <a:solidFill>
                  <a:srgbClr val="F0F2F8"/>
                </a:solidFill>
                <a:latin typeface="Arial" pitchFamily="34" charset="0"/>
                <a:ea typeface="Arial" pitchFamily="34" charset="-122"/>
                <a:cs typeface="Arial" pitchFamily="34" charset="-120"/>
              </a:rPr>
              <a:t>100% Offline-Capable</a:t>
            </a:r>
            <a:endParaRPr lang="en-US" sz="1100" dirty="0"/>
          </a:p>
        </p:txBody>
      </p:sp>
      <p:sp>
        <p:nvSpPr>
          <p:cNvPr id="16" name="Text 14"/>
          <p:cNvSpPr/>
          <p:nvPr/>
        </p:nvSpPr>
        <p:spPr>
          <a:xfrm>
            <a:off x="228600" y="4434840"/>
            <a:ext cx="8686800" cy="475488"/>
          </a:xfrm>
          <a:prstGeom prst="rect">
            <a:avLst/>
          </a:prstGeom>
          <a:noFill/>
          <a:ln/>
        </p:spPr>
        <p:txBody>
          <a:bodyPr wrap="square" lIns="0" tIns="0" rIns="0" bIns="0" rtlCol="0" anchor="ctr"/>
          <a:lstStyle/>
          <a:p>
            <a:pPr algn="ctr" indent="0" marL="0">
              <a:buNone/>
            </a:pPr>
            <a:r>
              <a:rPr lang="en-US" sz="1100" dirty="0">
                <a:solidFill>
                  <a:srgbClr val="4A5568"/>
                </a:solidFill>
                <a:latin typeface="Arial" pitchFamily="34" charset="0"/>
                <a:ea typeface="Arial" pitchFamily="34" charset="-122"/>
                <a:cs typeface="Arial" pitchFamily="34" charset="-120"/>
              </a:rPr>
              <a:t>For Antigravity  ·  Hackathon Submission  ·  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1920240"/>
            <a:ext cx="9144000" cy="1280160"/>
          </a:xfrm>
          <a:prstGeom prst="rect">
            <a:avLst/>
          </a:prstGeom>
          <a:solidFill>
            <a:srgbClr val="0D1F0E"/>
          </a:solidFill>
          <a:ln w="12700">
            <a:solidFill>
              <a:srgbClr val="22C55E"/>
            </a:solidFill>
            <a:prstDash val="solid"/>
          </a:ln>
        </p:spPr>
      </p:sp>
      <p:sp>
        <p:nvSpPr>
          <p:cNvPr id="3" name="Shape 1"/>
          <p:cNvSpPr/>
          <p:nvPr/>
        </p:nvSpPr>
        <p:spPr>
          <a:xfrm>
            <a:off x="0" y="0"/>
            <a:ext cx="73152" cy="5143500"/>
          </a:xfrm>
          <a:prstGeom prst="rect">
            <a:avLst/>
          </a:prstGeom>
          <a:solidFill>
            <a:srgbClr val="22C55E"/>
          </a:solidFill>
          <a:ln w="12700">
            <a:solidFill>
              <a:srgbClr val="22C55E"/>
            </a:solidFill>
            <a:prstDash val="solid"/>
          </a:ln>
        </p:spPr>
      </p:sp>
      <p:sp>
        <p:nvSpPr>
          <p:cNvPr id="4" name="Text 2"/>
          <p:cNvSpPr/>
          <p:nvPr/>
        </p:nvSpPr>
        <p:spPr>
          <a:xfrm>
            <a:off x="457200" y="1965960"/>
            <a:ext cx="8229600" cy="731520"/>
          </a:xfrm>
          <a:prstGeom prst="rect">
            <a:avLst/>
          </a:prstGeom>
          <a:noFill/>
          <a:ln/>
        </p:spPr>
        <p:txBody>
          <a:bodyPr wrap="square" lIns="0" tIns="0" rIns="0" bIns="0" rtlCol="0" anchor="ctr"/>
          <a:lstStyle/>
          <a:p>
            <a:pPr algn="ctr" indent="0" marL="0">
              <a:buNone/>
            </a:pPr>
            <a:r>
              <a:rPr lang="en-US" sz="4400" b="1" dirty="0">
                <a:solidFill>
                  <a:srgbClr val="22C55E"/>
                </a:solidFill>
                <a:latin typeface="Arial" pitchFamily="34" charset="0"/>
                <a:ea typeface="Arial" pitchFamily="34" charset="-122"/>
                <a:cs typeface="Arial" pitchFamily="34" charset="-120"/>
              </a:rPr>
              <a:t>Module 1 — Smart Itinerary Agent</a:t>
            </a:r>
            <a:endParaRPr lang="en-US" sz="4400" dirty="0"/>
          </a:p>
        </p:txBody>
      </p:sp>
      <p:sp>
        <p:nvSpPr>
          <p:cNvPr id="5" name="Text 3"/>
          <p:cNvSpPr/>
          <p:nvPr/>
        </p:nvSpPr>
        <p:spPr>
          <a:xfrm>
            <a:off x="457200" y="2743200"/>
            <a:ext cx="8229600" cy="411480"/>
          </a:xfrm>
          <a:prstGeom prst="rect">
            <a:avLst/>
          </a:prstGeom>
          <a:noFill/>
          <a:ln/>
        </p:spPr>
        <p:txBody>
          <a:bodyPr wrap="square" lIns="0" tIns="0" rIns="0" bIns="0" rtlCol="0" anchor="ctr"/>
          <a:lstStyle/>
          <a:p>
            <a:pPr algn="ctr" indent="0" marL="0">
              <a:buNone/>
            </a:pPr>
            <a:r>
              <a:rPr lang="en-US" sz="1600" i="1" dirty="0">
                <a:solidFill>
                  <a:srgbClr val="8892A4"/>
                </a:solidFill>
                <a:latin typeface="Arial" pitchFamily="34" charset="0"/>
                <a:ea typeface="Arial" pitchFamily="34" charset="-122"/>
                <a:cs typeface="Arial" pitchFamily="34" charset="-120"/>
              </a:rPr>
              <a:t>8 features · builds, reads, fixes your trip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1920240"/>
            <a:ext cx="9144000" cy="1280160"/>
          </a:xfrm>
          <a:prstGeom prst="rect">
            <a:avLst/>
          </a:prstGeom>
          <a:solidFill>
            <a:srgbClr val="1A1633"/>
          </a:solidFill>
          <a:ln w="12700">
            <a:solidFill>
              <a:srgbClr val="A78BFA"/>
            </a:solidFill>
            <a:prstDash val="solid"/>
          </a:ln>
        </p:spPr>
      </p:sp>
      <p:sp>
        <p:nvSpPr>
          <p:cNvPr id="3" name="Shape 1"/>
          <p:cNvSpPr/>
          <p:nvPr/>
        </p:nvSpPr>
        <p:spPr>
          <a:xfrm>
            <a:off x="0" y="0"/>
            <a:ext cx="73152" cy="5143500"/>
          </a:xfrm>
          <a:prstGeom prst="rect">
            <a:avLst/>
          </a:prstGeom>
          <a:solidFill>
            <a:srgbClr val="A78BFA"/>
          </a:solidFill>
          <a:ln w="12700">
            <a:solidFill>
              <a:srgbClr val="A78BFA"/>
            </a:solidFill>
            <a:prstDash val="solid"/>
          </a:ln>
        </p:spPr>
      </p:sp>
      <p:sp>
        <p:nvSpPr>
          <p:cNvPr id="4" name="Text 2"/>
          <p:cNvSpPr/>
          <p:nvPr/>
        </p:nvSpPr>
        <p:spPr>
          <a:xfrm>
            <a:off x="457200" y="1965960"/>
            <a:ext cx="8229600" cy="731520"/>
          </a:xfrm>
          <a:prstGeom prst="rect">
            <a:avLst/>
          </a:prstGeom>
          <a:noFill/>
          <a:ln/>
        </p:spPr>
        <p:txBody>
          <a:bodyPr wrap="square" lIns="0" tIns="0" rIns="0" bIns="0" rtlCol="0" anchor="ctr"/>
          <a:lstStyle/>
          <a:p>
            <a:pPr algn="ctr" indent="0" marL="0">
              <a:buNone/>
            </a:pPr>
            <a:r>
              <a:rPr lang="en-US" sz="4400" b="1" dirty="0">
                <a:solidFill>
                  <a:srgbClr val="A78BFA"/>
                </a:solidFill>
                <a:latin typeface="Arial" pitchFamily="34" charset="0"/>
                <a:ea typeface="Arial" pitchFamily="34" charset="-122"/>
                <a:cs typeface="Arial" pitchFamily="34" charset="-120"/>
              </a:rPr>
              <a:t>Module 2 — Multilingual + Local Intelligence</a:t>
            </a:r>
            <a:endParaRPr lang="en-US" sz="4400" dirty="0"/>
          </a:p>
        </p:txBody>
      </p:sp>
      <p:sp>
        <p:nvSpPr>
          <p:cNvPr id="5" name="Text 3"/>
          <p:cNvSpPr/>
          <p:nvPr/>
        </p:nvSpPr>
        <p:spPr>
          <a:xfrm>
            <a:off x="457200" y="2743200"/>
            <a:ext cx="8229600" cy="411480"/>
          </a:xfrm>
          <a:prstGeom prst="rect">
            <a:avLst/>
          </a:prstGeom>
          <a:noFill/>
          <a:ln/>
        </p:spPr>
        <p:txBody>
          <a:bodyPr wrap="square" lIns="0" tIns="0" rIns="0" bIns="0" rtlCol="0" anchor="ctr"/>
          <a:lstStyle/>
          <a:p>
            <a:pPr algn="ctr" indent="0" marL="0">
              <a:buNone/>
            </a:pPr>
            <a:r>
              <a:rPr lang="en-US" sz="1600" i="1" dirty="0">
                <a:solidFill>
                  <a:srgbClr val="8892A4"/>
                </a:solidFill>
                <a:latin typeface="Arial" pitchFamily="34" charset="0"/>
                <a:ea typeface="Arial" pitchFamily="34" charset="-122"/>
                <a:cs typeface="Arial" pitchFamily="34" charset="-120"/>
              </a:rPr>
              <a:t>6 features · speaks your language · knows local rules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1920240"/>
            <a:ext cx="9144000" cy="1280160"/>
          </a:xfrm>
          <a:prstGeom prst="rect">
            <a:avLst/>
          </a:prstGeom>
          <a:solidFill>
            <a:srgbClr val="1F1200"/>
          </a:solidFill>
          <a:ln w="12700">
            <a:solidFill>
              <a:srgbClr val="F59E0B"/>
            </a:solidFill>
            <a:prstDash val="solid"/>
          </a:ln>
        </p:spPr>
      </p:sp>
      <p:sp>
        <p:nvSpPr>
          <p:cNvPr id="3" name="Shape 1"/>
          <p:cNvSpPr/>
          <p:nvPr/>
        </p:nvSpPr>
        <p:spPr>
          <a:xfrm>
            <a:off x="0" y="0"/>
            <a:ext cx="73152" cy="5143500"/>
          </a:xfrm>
          <a:prstGeom prst="rect">
            <a:avLst/>
          </a:prstGeom>
          <a:solidFill>
            <a:srgbClr val="F59E0B"/>
          </a:solidFill>
          <a:ln w="12700">
            <a:solidFill>
              <a:srgbClr val="F59E0B"/>
            </a:solidFill>
            <a:prstDash val="solid"/>
          </a:ln>
        </p:spPr>
      </p:sp>
      <p:sp>
        <p:nvSpPr>
          <p:cNvPr id="4" name="Text 2"/>
          <p:cNvSpPr/>
          <p:nvPr/>
        </p:nvSpPr>
        <p:spPr>
          <a:xfrm>
            <a:off x="457200" y="1965960"/>
            <a:ext cx="8229600" cy="731520"/>
          </a:xfrm>
          <a:prstGeom prst="rect">
            <a:avLst/>
          </a:prstGeom>
          <a:noFill/>
          <a:ln/>
        </p:spPr>
        <p:txBody>
          <a:bodyPr wrap="square" lIns="0" tIns="0" rIns="0" bIns="0" rtlCol="0" anchor="ctr"/>
          <a:lstStyle/>
          <a:p>
            <a:pPr algn="ctr" indent="0" marL="0">
              <a:buNone/>
            </a:pPr>
            <a:r>
              <a:rPr lang="en-US" sz="4400" b="1" dirty="0">
                <a:solidFill>
                  <a:srgbClr val="F59E0B"/>
                </a:solidFill>
                <a:latin typeface="Arial" pitchFamily="34" charset="0"/>
                <a:ea typeface="Arial" pitchFamily="34" charset="-122"/>
                <a:cs typeface="Arial" pitchFamily="34" charset="-120"/>
              </a:rPr>
              <a:t>Module 3 — ✨ Disruption Shield</a:t>
            </a:r>
            <a:endParaRPr lang="en-US" sz="4400" dirty="0"/>
          </a:p>
        </p:txBody>
      </p:sp>
      <p:sp>
        <p:nvSpPr>
          <p:cNvPr id="5" name="Text 3"/>
          <p:cNvSpPr/>
          <p:nvPr/>
        </p:nvSpPr>
        <p:spPr>
          <a:xfrm>
            <a:off x="457200" y="2743200"/>
            <a:ext cx="8229600" cy="411480"/>
          </a:xfrm>
          <a:prstGeom prst="rect">
            <a:avLst/>
          </a:prstGeom>
          <a:noFill/>
          <a:ln/>
        </p:spPr>
        <p:txBody>
          <a:bodyPr wrap="square" lIns="0" tIns="0" rIns="0" bIns="0" rtlCol="0" anchor="ctr"/>
          <a:lstStyle/>
          <a:p>
            <a:pPr algn="ctr" indent="0" marL="0">
              <a:buNone/>
            </a:pPr>
            <a:r>
              <a:rPr lang="en-US" sz="1600" i="1" dirty="0">
                <a:solidFill>
                  <a:srgbClr val="8892A4"/>
                </a:solidFill>
                <a:latin typeface="Arial" pitchFamily="34" charset="0"/>
                <a:ea typeface="Arial" pitchFamily="34" charset="-122"/>
                <a:cs typeface="Arial" pitchFamily="34" charset="-120"/>
              </a:rPr>
              <a:t>7 features · fixes your trip before you panic</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#01</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Live Itinerary Engine</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Your trip plan is never frozen — it reacts to the real world in real time.</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Subscribes to live data feeds — weather forecasts, venue opening hours, flight status updates. When any real-world condition changes (rain forecast, venue closes early, flight delayed), the itinerary automatically patches the affected events without the user doing anything.</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Eliminates the moment every traveller knows: arriving at a place to find it's closed, or stepping outside into rain you didn't plan for. The plan is always current. Zero manual update required.</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On itinerary load, register background polling for: Open-Meteo (weather, every 3h), Overpass API (venue hours, once/day), flight status (every 30min).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On any change, compare with stored ItineraryDay objects.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If mismatch → call Ollama LLM with updated context → regenerate affected events.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Push updated itinerary to UI via WebSocket or polling.</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Open-Meteo (weather, free, no key)  ·  Overpass API (venue data, free)  ·  OpenSky Network (flight tracking, free)  ·  Ollama LLM (local, offline)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#02</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Itinerary Auto-Healer</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One disruption. Full cascade fix. Flight → hotel → cab → schedule. All automatic.</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When a disruption is detected (flight cancelled, delayed, missed), the system does not just flag the broken event. It identifies every downstream event that is now invalid — hotel check-in time, pre-booked cab, restaurant booking, day activities — and replans the entire affected timeline from scratch.</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Before TripMind: flight cancelled → 45 minutes of panicking to manually fix 6 things. After TripMind: one notification saying 'We've fixed everything. Here's your new plan.' The emotional cost of disruption drops to near zero.</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Disruption event triggers TriggerDisruptionShield use-case.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Load all ItineraryDay records for affected dates.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Identify all downstream bookings (hotel, cab, activities) with timestamps after the disruption.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For each affected booking: calculate new time = disruption_resolution_time + buffer.</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Call Ollama with new constraints to rebuild ItineraryDay JSON.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Save updated records to DB + push to UI.</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Internal cascading use-case logic  ·  Prisma DB (SQLite/Postgres)  ·  Ollama LLM (local)  ·  Mock flight data JSON (30 flights, 6 routes)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#03</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Calendar Gap Detector</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Finds your free time. Fills it with exactly what fits — automatically.</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Reads the user's calendar events (pasted or synced). Detects every gap between 30 and 90 minutes that falls between scheduled events. For each gap, queries nearby places (food, activity, rest) filtered by current GPS location, time of day, and trip purpose (business vs leisure). Pushes 3 ranked suggestions directly into the itinerary timeline.</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Business travellers stop wasting lunch hours sitting in hotel rooms. Leisure travellers discover local spots they would never have found. The app becomes a proactive assistant, not a passive calendar.</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Parse calendarEvents[] array, sort by start time.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Iterate pairs: if gap between event[n].end and event[n+1].start is 30–90min → store as FreeGap.</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For each FreeGap: call Foursquare Places API (or Overpass) with lat/lng + radius 1km + category filter.</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Pass gap duration + trip purpose to Ollama → returns 3 ranked suggestions.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Inject into ItineraryDay.freeGaps[] and render with amber left-border in UI.</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Calendar API (Google Calendar free tier) or manual paste  ·  Foursquare Places API (1000 calls/day free)  ·  Overpass API (fallback, free)  ·  Ollama LLM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#04</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Social Save Ingestor</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Your Instagram saves, TikTok bookmarks, Reddit threads → your actual itinerary.</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User pastes text or links from anywhere they save travel content: Instagram captions, TikTok descriptions, Google Maps star lists, Reddit threads. The AI parses all of it, extracts place names and addresses, deduplicates them, geocodes each one, and slots them into the itinerary days based on geographic proximity and time availability.</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Solves the #1 travel planning pain point: everyone has 300 saved posts and zero organised trip. Your personal taste — the things YOU saved — becomes the actual plan. Not a generic top-10 list generated for a stranger.</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User pastes raw text into a textarea.</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Send to Ollama with prompt: 'Extract all place names, addresses, and cities from this text. Return JSON array: [{name, address, city, category}]'.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For each extracted place: call Nominatim geocoding API → get lat/lng.</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Group places by city + date availability.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Score each place against existing itinerary gaps.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Insert top-scored places into ItineraryDay.events[] at appropriate time slots.</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Ollama LLM (local, extracts places from freeform text)  ·  Nominatim / OpenStreetMap (geocoding, free, no key)  ·  Prisma DB to store extracted places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#05</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Breathing Room Optimizer</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Detects over-packed days. Inserts recovery time before you burn out.</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Analyses each itinerary day and calculates total scheduled activity time. If a day exceeds 5 activities in 8 hours (a configurable threshold), it automatically inserts a 'breathing room' event — a quiet café, a park, a scenic walk — between the most demanding pair of activities. The event is clearly tagged and can be deleted by the user.</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Travel exhaustion is the biggest reason trips feel disappointing despite going to amazing places. This feature enforces rest without the user having to plan it. By trip day 3, the difference between an over-packed itinerary and a breathing-room-optimized one is enormous.</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After itinerary generation, iterate each ItineraryDay.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Calculate: sum of event.duration_minutes for activity-type events.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If total &gt; 480 mins OR event count &gt; 5: find the pair with largest consecutive gap.</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Call Overpass API: query for cafes/parks within 500m of that gap's location.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Insert a break event (type: 'break', isBreathingRoom: true) at that slot.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Render with distinct 'Breathing room' amber pill badge in UI.</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Internal calculation logic (no API needed for detection)  ·  Overpass API (find nearby quiet spots, free)  ·  Ollama LLM (generate natural-language description for the break)</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#06</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Context Engine</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Business or leisure. Morning or night. Energetic or recovering. The app adapts.</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Three context inputs feed every recommendation: trip purpose (business vs leisure), time of day (morning/afternoon/evening), and a quick mood tap (energetic / moderate / need rest). These three signals are passed into every Ollama prompt as constraints — so the same city at the same time gives a business traveller and a leisure traveller completely different suggestions.</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Recommendations feel personal rather than generic. A business traveller at 12:30 PM gets 'quick hawker lunch, 45 minutes, back for your 2 PM meeting.' A leisure traveller gets 'explore the wet market, try the Michelin chicken rice, no rush.' Same location. Completely different experience.</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Store tripPurpose (business/leisure) on User model.</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Derive timeOfDay from current system time (morning/afternoon/evening).</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Mood tap: 3-button UI component → stores energyLevel (high/medium/low).</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Compose context string: 'Trip purpose: {purpose}. Time: {timeOfDay}. Energy: {level}.'</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Prepend to every Ollama prompt as a hard constraint section.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LLM respects these constraints in all suggestions, durations, and activity types.</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No external API — pure LLM prompt engineering  ·  Ollama LLM (local)  ·  localStorage for mood state  ·  User DB record for trip purpose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#07</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1975104" y="164592"/>
            <a:ext cx="502920" cy="292608"/>
          </a:xfrm>
          <a:prstGeom prst="rect">
            <a:avLst/>
          </a:prstGeom>
          <a:solidFill>
            <a:srgbClr val="3C3489"/>
          </a:solidFill>
          <a:ln w="12700">
            <a:solidFill>
              <a:srgbClr val="818CF8"/>
            </a:solidFill>
            <a:prstDash val="solid"/>
          </a:ln>
        </p:spPr>
      </p:sp>
      <p:sp>
        <p:nvSpPr>
          <p:cNvPr id="8" name="Text 6"/>
          <p:cNvSpPr/>
          <p:nvPr/>
        </p:nvSpPr>
        <p:spPr>
          <a:xfrm>
            <a:off x="1975104" y="164592"/>
            <a:ext cx="502920" cy="292608"/>
          </a:xfrm>
          <a:prstGeom prst="rect">
            <a:avLst/>
          </a:prstGeom>
          <a:noFill/>
          <a:ln/>
        </p:spPr>
        <p:txBody>
          <a:bodyPr wrap="square" lIns="0" tIns="0" rIns="0" bIns="0" rtlCol="0" anchor="ctr"/>
          <a:lstStyle/>
          <a:p>
            <a:pPr algn="ctr" indent="0" marL="0">
              <a:buNone/>
            </a:pPr>
            <a:r>
              <a:rPr lang="en-US" sz="900" b="1" dirty="0">
                <a:solidFill>
                  <a:srgbClr val="818CF8"/>
                </a:solidFill>
              </a:rPr>
              <a:t>NEW ✦</a:t>
            </a:r>
            <a:endParaRPr lang="en-US" sz="900" dirty="0"/>
          </a:p>
        </p:txBody>
      </p:sp>
      <p:sp>
        <p:nvSpPr>
          <p:cNvPr id="9" name="Shape 7"/>
          <p:cNvSpPr/>
          <p:nvPr/>
        </p:nvSpPr>
        <p:spPr>
          <a:xfrm>
            <a:off x="8138160" y="109728"/>
            <a:ext cx="804672" cy="804672"/>
          </a:xfrm>
          <a:prstGeom prst="ellipse">
            <a:avLst/>
          </a:prstGeom>
          <a:solidFill>
            <a:srgbClr val="161B2E"/>
          </a:solidFill>
          <a:ln w="12700">
            <a:solidFill>
              <a:srgbClr val="F59E0B"/>
            </a:solidFill>
            <a:prstDash val="solid"/>
          </a:ln>
        </p:spPr>
      </p:sp>
      <p:pic>
        <p:nvPicPr>
          <p:cNvPr id="10"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11" name="Text 8"/>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Smart Packing AI</a:t>
            </a:r>
            <a:endParaRPr lang="en-US" sz="3000" dirty="0"/>
          </a:p>
        </p:txBody>
      </p:sp>
      <p:sp>
        <p:nvSpPr>
          <p:cNvPr id="12" name="Text 9"/>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Not a generic packing list. Knows what you're doing each day and packs for that.</a:t>
            </a:r>
            <a:endParaRPr lang="en-US" sz="1300" dirty="0"/>
          </a:p>
        </p:txBody>
      </p:sp>
      <p:sp>
        <p:nvSpPr>
          <p:cNvPr id="13" name="Shape 10"/>
          <p:cNvSpPr/>
          <p:nvPr/>
        </p:nvSpPr>
        <p:spPr>
          <a:xfrm>
            <a:off x="164592" y="1508760"/>
            <a:ext cx="8814816" cy="0"/>
          </a:xfrm>
          <a:prstGeom prst="line">
            <a:avLst/>
          </a:prstGeom>
          <a:noFill/>
          <a:ln w="12700">
            <a:solidFill>
              <a:srgbClr val="1E2640"/>
            </a:solidFill>
            <a:prstDash val="solid"/>
          </a:ln>
        </p:spPr>
      </p:sp>
      <p:sp>
        <p:nvSpPr>
          <p:cNvPr id="14" name="Text 11"/>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5" name="Shape 12"/>
          <p:cNvSpPr/>
          <p:nvPr/>
        </p:nvSpPr>
        <p:spPr>
          <a:xfrm>
            <a:off x="164592" y="1847088"/>
            <a:ext cx="2834640" cy="2377440"/>
          </a:xfrm>
          <a:prstGeom prst="rect">
            <a:avLst/>
          </a:prstGeom>
          <a:solidFill>
            <a:srgbClr val="0F1320"/>
          </a:solidFill>
          <a:ln w="12700">
            <a:solidFill>
              <a:srgbClr val="1E2640"/>
            </a:solidFill>
            <a:prstDash val="solid"/>
          </a:ln>
        </p:spPr>
      </p:sp>
      <p:sp>
        <p:nvSpPr>
          <p:cNvPr id="16" name="Text 13"/>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Reads the user's complete itinerary (every event, every day) and the 7-day weather forecast for the destination. Generates a packing list that is specific to what is actually scheduled. Temple visit Day 2 → 'modest clothing that covers shoulders.' Beach Day 3 → 'reef-safe sunscreen, swimwear, flip flops.' Business dinner Day 4 → 'formal outfit, closed shoes.' Rainy Day 5 → 'umbrella, waterproof bag.' Dynamic and intelligent.</a:t>
            </a:r>
            <a:endParaRPr lang="en-US" sz="1150" dirty="0"/>
          </a:p>
        </p:txBody>
      </p:sp>
      <p:sp>
        <p:nvSpPr>
          <p:cNvPr id="17" name="Text 14"/>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8" name="Shape 15"/>
          <p:cNvSpPr/>
          <p:nvPr/>
        </p:nvSpPr>
        <p:spPr>
          <a:xfrm>
            <a:off x="3200400" y="1847088"/>
            <a:ext cx="2834640" cy="2377440"/>
          </a:xfrm>
          <a:prstGeom prst="rect">
            <a:avLst/>
          </a:prstGeom>
          <a:solidFill>
            <a:srgbClr val="0F1320"/>
          </a:solidFill>
          <a:ln w="12700">
            <a:solidFill>
              <a:srgbClr val="1E2640"/>
            </a:solidFill>
            <a:prstDash val="solid"/>
          </a:ln>
        </p:spPr>
      </p:sp>
      <p:sp>
        <p:nvSpPr>
          <p:cNvPr id="19" name="Text 16"/>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Eliminates the classic travel mistake: arriving at a temple in shorts, or at a beach resort with no sunscreen. Most people pack based on vague destination knowledge. This packs based on your specific schedule — far more accurate and far more useful.</a:t>
            </a:r>
            <a:endParaRPr lang="en-US" sz="1150" dirty="0"/>
          </a:p>
        </p:txBody>
      </p:sp>
      <p:sp>
        <p:nvSpPr>
          <p:cNvPr id="20" name="Text 17"/>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21" name="Shape 18"/>
          <p:cNvSpPr/>
          <p:nvPr/>
        </p:nvSpPr>
        <p:spPr>
          <a:xfrm>
            <a:off x="6236208" y="1847088"/>
            <a:ext cx="2834640" cy="2377440"/>
          </a:xfrm>
          <a:prstGeom prst="rect">
            <a:avLst/>
          </a:prstGeom>
          <a:solidFill>
            <a:srgbClr val="0F1320"/>
          </a:solidFill>
          <a:ln w="12700">
            <a:solidFill>
              <a:srgbClr val="1E2640"/>
            </a:solidFill>
            <a:prstDash val="solid"/>
          </a:ln>
        </p:spPr>
      </p:sp>
      <p:sp>
        <p:nvSpPr>
          <p:cNvPr id="22" name="Text 19"/>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After itinerary is finalised, call Open-Meteo API for 7-day forecast at destination lat/lng.</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Map each day's weather to the scheduled itinerary events.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Build a prompt: 'Given these events per day and this weather forecast, generate a packing list grouped by category (clothing, toiletries, documents, tech, misc). Be specific to the activities.'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Send to Ollama → returns structured JSON: [{category, items:[]}].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Render as checklist UI with checkboxes (localStorage to persist checked state).</a:t>
            </a:r>
            <a:endParaRPr lang="en-US" sz="1150" dirty="0"/>
          </a:p>
        </p:txBody>
      </p:sp>
      <p:sp>
        <p:nvSpPr>
          <p:cNvPr id="23" name="Shape 20"/>
          <p:cNvSpPr/>
          <p:nvPr/>
        </p:nvSpPr>
        <p:spPr>
          <a:xfrm>
            <a:off x="164592" y="4315968"/>
            <a:ext cx="8814816" cy="658368"/>
          </a:xfrm>
          <a:prstGeom prst="rect">
            <a:avLst/>
          </a:prstGeom>
          <a:solidFill>
            <a:srgbClr val="161B2E"/>
          </a:solidFill>
          <a:ln w="12700">
            <a:solidFill>
              <a:srgbClr val="1E2640"/>
            </a:solidFill>
            <a:prstDash val="solid"/>
          </a:ln>
        </p:spPr>
      </p:sp>
      <p:sp>
        <p:nvSpPr>
          <p:cNvPr id="24" name="Text 21"/>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5" name="Text 22"/>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Open-Meteo API (7-day forecast by lat/lng, free, no key)  ·  Ollama LLM (local, generates event-aware packing list)  ·  localStorage (checklist state)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#08</a:t>
            </a:r>
            <a:endParaRPr lang="en-US" sz="1000" dirty="0"/>
          </a:p>
        </p:txBody>
      </p:sp>
      <p:sp>
        <p:nvSpPr>
          <p:cNvPr id="5" name="Shape 3"/>
          <p:cNvSpPr/>
          <p:nvPr/>
        </p:nvSpPr>
        <p:spPr>
          <a:xfrm>
            <a:off x="713232" y="164592"/>
            <a:ext cx="1188720" cy="292608"/>
          </a:xfrm>
          <a:prstGeom prst="rect">
            <a:avLst/>
          </a:prstGeom>
          <a:solidFill>
            <a:srgbClr val="1A2E10"/>
          </a:solidFill>
          <a:ln w="12700">
            <a:solidFill>
              <a:srgbClr val="22C55E"/>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4ADE80"/>
                </a:solidFill>
              </a:rPr>
              <a:t>Module: Itinerary</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Visa + Passport + Doc Checklist</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Know exactly what you need before you go. Specific to your passport and destination.</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Before the trip, generates a complete pre-travel checklist using the user's passport country and destination country as inputs. Covers: visa requirement and type, passport validity needed, recommended vaccines, travel insurance notes, local emergency numbers, entry rules (biometric scan, arrival card), currency to carry, and any destination-specific advisories.</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Catches the expensive mistakes before they happen. Arriving at the airport without a visa, or with a passport expiring in 3 months when the destination requires 6 months validity, are both catastrophic. This feature makes pre-trip preparation foolproof.</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User inputs passport country + destination country during trip creation.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Call Travelbriefing.org API (free) with country pair → returns visa info, health, safety.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Call REST Countries API (free, no key) → returns capital, currency, emergency numbers.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Pass all raw data to Ollama with prompt: 'Convert this into a clear, specific pre-trip checklist.'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Render as a categorised checklist UI (Documents / Health / Money / Safety).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Mark items complete with localStorage persistence.</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Travelbriefing.org API (visa + health info, free)  ·  REST Countries API (country data, free, no key)  ·  Ollama LLM (formats into readable checklist)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#09</a:t>
            </a:r>
            <a:endParaRPr lang="en-US" sz="1000" dirty="0"/>
          </a:p>
        </p:txBody>
      </p:sp>
      <p:sp>
        <p:nvSpPr>
          <p:cNvPr id="5" name="Shape 3"/>
          <p:cNvSpPr/>
          <p:nvPr/>
        </p:nvSpPr>
        <p:spPr>
          <a:xfrm>
            <a:off x="713232" y="164592"/>
            <a:ext cx="1188720" cy="292608"/>
          </a:xfrm>
          <a:prstGeom prst="rect">
            <a:avLst/>
          </a:prstGeom>
          <a:solidFill>
            <a:srgbClr val="1E1A3A"/>
          </a:solidFill>
          <a:ln w="12700">
            <a:solidFill>
              <a:srgbClr val="818CF8"/>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A78BFA"/>
                </a:solidFill>
              </a:rPr>
              <a:t>Module: Intelligence</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Multilingual UI</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The whole product speaks your language — not just the buttons. The AI too.</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The entire product renders in the user's chosen language: English, Hindi, Spanish, French, Japanese. This is not just UI label translation. Every AI-generated response — itinerary descriptions, cultural nudges, disruption alerts, packing lists — is produced in the user's language by instructing the LLM to respond in that language. Language can be changed at any point and the whole UI re-renders instantly.</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For non-English speakers (the majority of the world), this changes the product from 'usable with effort' to 'feels built for me.' A Hindi-speaking traveller gets every itinerary description, every alert, every suggestion in Hindi without thinking about it.</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Install i18next + react-i18next.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Create translation JSON files: en.json, hi.json, es.json, fr.json, ja.json — covering all static UI strings.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Detect language from browser headers or user preference stored in DB.</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For all dynamic LLM content: append 'Respond entirely in {language}. Do not use English.' to every Ollama prompt.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Language switcher component stores choice in localStorage + User DB record.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On switch: i18next.changeLanguage() → instant re-render of all static strings.</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i18next + react-i18next (npm, free)  ·  Ollama LLM (prompted in target language)  ·  5 translation JSON files (static UI strings)  ·  User.preferredLang DB field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#10</a:t>
            </a:r>
            <a:endParaRPr lang="en-US" sz="1000" dirty="0"/>
          </a:p>
        </p:txBody>
      </p:sp>
      <p:sp>
        <p:nvSpPr>
          <p:cNvPr id="5" name="Shape 3"/>
          <p:cNvSpPr/>
          <p:nvPr/>
        </p:nvSpPr>
        <p:spPr>
          <a:xfrm>
            <a:off x="713232" y="164592"/>
            <a:ext cx="1188720" cy="292608"/>
          </a:xfrm>
          <a:prstGeom prst="rect">
            <a:avLst/>
          </a:prstGeom>
          <a:solidFill>
            <a:srgbClr val="1E1A3A"/>
          </a:solidFill>
          <a:ln w="12700">
            <a:solidFill>
              <a:srgbClr val="818CF8"/>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A78BFA"/>
                </a:solidFill>
              </a:rPr>
              <a:t>Module: Intelligence</a:t>
            </a:r>
            <a:endParaRPr lang="en-US" sz="900" dirty="0"/>
          </a:p>
        </p:txBody>
      </p:sp>
      <p:sp>
        <p:nvSpPr>
          <p:cNvPr id="7" name="Shape 5"/>
          <p:cNvSpPr/>
          <p:nvPr/>
        </p:nvSpPr>
        <p:spPr>
          <a:xfrm>
            <a:off x="1975104" y="164592"/>
            <a:ext cx="502920" cy="292608"/>
          </a:xfrm>
          <a:prstGeom prst="rect">
            <a:avLst/>
          </a:prstGeom>
          <a:solidFill>
            <a:srgbClr val="3C3489"/>
          </a:solidFill>
          <a:ln w="12700">
            <a:solidFill>
              <a:srgbClr val="818CF8"/>
            </a:solidFill>
            <a:prstDash val="solid"/>
          </a:ln>
        </p:spPr>
      </p:sp>
      <p:sp>
        <p:nvSpPr>
          <p:cNvPr id="8" name="Text 6"/>
          <p:cNvSpPr/>
          <p:nvPr/>
        </p:nvSpPr>
        <p:spPr>
          <a:xfrm>
            <a:off x="1975104" y="164592"/>
            <a:ext cx="502920" cy="292608"/>
          </a:xfrm>
          <a:prstGeom prst="rect">
            <a:avLst/>
          </a:prstGeom>
          <a:noFill/>
          <a:ln/>
        </p:spPr>
        <p:txBody>
          <a:bodyPr wrap="square" lIns="0" tIns="0" rIns="0" bIns="0" rtlCol="0" anchor="ctr"/>
          <a:lstStyle/>
          <a:p>
            <a:pPr algn="ctr" indent="0" marL="0">
              <a:buNone/>
            </a:pPr>
            <a:r>
              <a:rPr lang="en-US" sz="900" b="1" dirty="0">
                <a:solidFill>
                  <a:srgbClr val="818CF8"/>
                </a:solidFill>
              </a:rPr>
              <a:t>NEW ✦</a:t>
            </a:r>
            <a:endParaRPr lang="en-US" sz="900" dirty="0"/>
          </a:p>
        </p:txBody>
      </p:sp>
      <p:sp>
        <p:nvSpPr>
          <p:cNvPr id="9" name="Shape 7"/>
          <p:cNvSpPr/>
          <p:nvPr/>
        </p:nvSpPr>
        <p:spPr>
          <a:xfrm>
            <a:off x="8138160" y="109728"/>
            <a:ext cx="804672" cy="804672"/>
          </a:xfrm>
          <a:prstGeom prst="ellipse">
            <a:avLst/>
          </a:prstGeom>
          <a:solidFill>
            <a:srgbClr val="161B2E"/>
          </a:solidFill>
          <a:ln w="12700">
            <a:solidFill>
              <a:srgbClr val="F59E0B"/>
            </a:solidFill>
            <a:prstDash val="solid"/>
          </a:ln>
        </p:spPr>
      </p:sp>
      <p:pic>
        <p:nvPicPr>
          <p:cNvPr id="10"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11" name="Text 8"/>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Multilingual Voice + Live Translate</a:t>
            </a:r>
            <a:endParaRPr lang="en-US" sz="3000" dirty="0"/>
          </a:p>
        </p:txBody>
      </p:sp>
      <p:sp>
        <p:nvSpPr>
          <p:cNvPr id="12" name="Text 9"/>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Speak. Point. Understand. In any language. Fully offline.</a:t>
            </a:r>
            <a:endParaRPr lang="en-US" sz="1300" dirty="0"/>
          </a:p>
        </p:txBody>
      </p:sp>
      <p:sp>
        <p:nvSpPr>
          <p:cNvPr id="13" name="Shape 10"/>
          <p:cNvSpPr/>
          <p:nvPr/>
        </p:nvSpPr>
        <p:spPr>
          <a:xfrm>
            <a:off x="164592" y="1508760"/>
            <a:ext cx="8814816" cy="0"/>
          </a:xfrm>
          <a:prstGeom prst="line">
            <a:avLst/>
          </a:prstGeom>
          <a:noFill/>
          <a:ln w="12700">
            <a:solidFill>
              <a:srgbClr val="1E2640"/>
            </a:solidFill>
            <a:prstDash val="solid"/>
          </a:ln>
        </p:spPr>
      </p:sp>
      <p:sp>
        <p:nvSpPr>
          <p:cNvPr id="14" name="Text 11"/>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5" name="Shape 12"/>
          <p:cNvSpPr/>
          <p:nvPr/>
        </p:nvSpPr>
        <p:spPr>
          <a:xfrm>
            <a:off x="164592" y="1847088"/>
            <a:ext cx="2834640" cy="2377440"/>
          </a:xfrm>
          <a:prstGeom prst="rect">
            <a:avLst/>
          </a:prstGeom>
          <a:solidFill>
            <a:srgbClr val="0F1320"/>
          </a:solidFill>
          <a:ln w="12700">
            <a:solidFill>
              <a:srgbClr val="1E2640"/>
            </a:solidFill>
            <a:prstDash val="solid"/>
          </a:ln>
        </p:spPr>
      </p:sp>
      <p:sp>
        <p:nvSpPr>
          <p:cNvPr id="16" name="Text 13"/>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Three capabilities in one: (1) Voice input — speak your request in any language, it transcribes and responds via voice. (2) Camera translate — point your phone camera at a foreign menu, sign, or notice — it translates live on screen. (3) Conversation interpreter — you speak, the app speaks back in the local language for the person in front of you. A real-time translator in your pocket.</a:t>
            </a:r>
            <a:endParaRPr lang="en-US" sz="1150" dirty="0"/>
          </a:p>
        </p:txBody>
      </p:sp>
      <p:sp>
        <p:nvSpPr>
          <p:cNvPr id="17" name="Text 14"/>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8" name="Shape 15"/>
          <p:cNvSpPr/>
          <p:nvPr/>
        </p:nvSpPr>
        <p:spPr>
          <a:xfrm>
            <a:off x="3200400" y="1847088"/>
            <a:ext cx="2834640" cy="2377440"/>
          </a:xfrm>
          <a:prstGeom prst="rect">
            <a:avLst/>
          </a:prstGeom>
          <a:solidFill>
            <a:srgbClr val="0F1320"/>
          </a:solidFill>
          <a:ln w="12700">
            <a:solidFill>
              <a:srgbClr val="1E2640"/>
            </a:solidFill>
            <a:prstDash val="solid"/>
          </a:ln>
        </p:spPr>
      </p:sp>
      <p:sp>
        <p:nvSpPr>
          <p:cNvPr id="19" name="Text 16"/>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Ordering food in Sri Lanka without knowing Sinhala. Understanding a safety notice in Japanese. Having a conversation with a local cab driver in their language. These are the friction-filled moments every traveller faces. This feature eliminates all of them, entirely offline.</a:t>
            </a:r>
            <a:endParaRPr lang="en-US" sz="1150" dirty="0"/>
          </a:p>
        </p:txBody>
      </p:sp>
      <p:sp>
        <p:nvSpPr>
          <p:cNvPr id="20" name="Text 17"/>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21" name="Shape 18"/>
          <p:cNvSpPr/>
          <p:nvPr/>
        </p:nvSpPr>
        <p:spPr>
          <a:xfrm>
            <a:off x="6236208" y="1847088"/>
            <a:ext cx="2834640" cy="2377440"/>
          </a:xfrm>
          <a:prstGeom prst="rect">
            <a:avLst/>
          </a:prstGeom>
          <a:solidFill>
            <a:srgbClr val="0F1320"/>
          </a:solidFill>
          <a:ln w="12700">
            <a:solidFill>
              <a:srgbClr val="1E2640"/>
            </a:solidFill>
            <a:prstDash val="solid"/>
          </a:ln>
        </p:spPr>
      </p:sp>
      <p:sp>
        <p:nvSpPr>
          <p:cNvPr id="22" name="Text 19"/>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Voice input: use Web Speech API (browser built-in, free) or Whisper.cpp (local Ollama model) for STT.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Translation: run LibreTranslate in Docker on localhost:5000 (docker run -p 5000:5000 libretranslate/libretranslate). No internet needed.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Camera translate: use device camera API → capture frame → send image to Ollama vision model (llava) → returns translated text overlay.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TTS output: Web Speech API SpeechSynthesis (built-in browser).</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All three modes work offline after initial model download.</a:t>
            </a:r>
            <a:endParaRPr lang="en-US" sz="1150" dirty="0"/>
          </a:p>
        </p:txBody>
      </p:sp>
      <p:sp>
        <p:nvSpPr>
          <p:cNvPr id="23" name="Shape 20"/>
          <p:cNvSpPr/>
          <p:nvPr/>
        </p:nvSpPr>
        <p:spPr>
          <a:xfrm>
            <a:off x="164592" y="4315968"/>
            <a:ext cx="8814816" cy="658368"/>
          </a:xfrm>
          <a:prstGeom prst="rect">
            <a:avLst/>
          </a:prstGeom>
          <a:solidFill>
            <a:srgbClr val="161B2E"/>
          </a:solidFill>
          <a:ln w="12700">
            <a:solidFill>
              <a:srgbClr val="1E2640"/>
            </a:solidFill>
            <a:prstDash val="solid"/>
          </a:ln>
        </p:spPr>
      </p:sp>
      <p:sp>
        <p:nvSpPr>
          <p:cNvPr id="24" name="Text 21"/>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5" name="Text 22"/>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Web Speech API (browser built-in, STT + TTS)  ·  LibreTranslate (self-hosted Docker, offline, 30+ languages)  ·  Ollama llava model (vision + translation, local)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#11</a:t>
            </a:r>
            <a:endParaRPr lang="en-US" sz="1000" dirty="0"/>
          </a:p>
        </p:txBody>
      </p:sp>
      <p:sp>
        <p:nvSpPr>
          <p:cNvPr id="5" name="Shape 3"/>
          <p:cNvSpPr/>
          <p:nvPr/>
        </p:nvSpPr>
        <p:spPr>
          <a:xfrm>
            <a:off x="713232" y="164592"/>
            <a:ext cx="1188720" cy="292608"/>
          </a:xfrm>
          <a:prstGeom prst="rect">
            <a:avLst/>
          </a:prstGeom>
          <a:solidFill>
            <a:srgbClr val="1E1A3A"/>
          </a:solidFill>
          <a:ln w="12700">
            <a:solidFill>
              <a:srgbClr val="818CF8"/>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A78BFA"/>
                </a:solidFill>
              </a:rPr>
              <a:t>Module: Intelligence</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Expense AI</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Paste a receipt. It categorises itself. Your expense report writes itself.</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User pastes raw receipt text (or in a future version, photographs it). The AI reads the unstructured text and extracts: total amount, currency, merchant name, category (food / transport / accommodation / activity / other), and date. All expenses are stored against the trip. By the end of the trip, a complete expense report is ready to submit — with category breakdown chart and total in the user's home currency.</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63% of business travellers say manual expense reporting is their most hated travel task (GBTA 2025). This turns a 45-minute post-trip chore into something that happens automatically as you go. You land home with a finished report.</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Textarea input for receipt text (or future: OCR from image via Tesseract.js).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Ollama prompt: 'Extract from this receipt: amount (number), currency (3-letter code), category (food/transport/accommodation/activity/other), description (merchant + item), date (YYYY-MM-DD). Return only valid JSON.'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Parse JSON response → save to Expense DB table.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ExchangeRate-API (free, 1500 req/month) for currency conversion to home currency.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Recharts doughnut chart for category breakdown.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Export button: generates CSV of all trip expenses.</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Ollama LLM (local, extracts structured data from receipt text)  ·  ExchangeRate-API (1500 free calls/month, currency conversion)  ·  Tesseract.js (OCR, future)  ·  Recharts (chart)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#12</a:t>
            </a:r>
            <a:endParaRPr lang="en-US" sz="1000" dirty="0"/>
          </a:p>
        </p:txBody>
      </p:sp>
      <p:sp>
        <p:nvSpPr>
          <p:cNvPr id="5" name="Shape 3"/>
          <p:cNvSpPr/>
          <p:nvPr/>
        </p:nvSpPr>
        <p:spPr>
          <a:xfrm>
            <a:off x="713232" y="164592"/>
            <a:ext cx="1188720" cy="292608"/>
          </a:xfrm>
          <a:prstGeom prst="rect">
            <a:avLst/>
          </a:prstGeom>
          <a:solidFill>
            <a:srgbClr val="1E1A3A"/>
          </a:solidFill>
          <a:ln w="12700">
            <a:solidFill>
              <a:srgbClr val="818CF8"/>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A78BFA"/>
                </a:solidFill>
              </a:rPr>
              <a:t>Module: Intelligence</a:t>
            </a:r>
            <a:endParaRPr lang="en-US" sz="900" dirty="0"/>
          </a:p>
        </p:txBody>
      </p:sp>
      <p:sp>
        <p:nvSpPr>
          <p:cNvPr id="7" name="Shape 5"/>
          <p:cNvSpPr/>
          <p:nvPr/>
        </p:nvSpPr>
        <p:spPr>
          <a:xfrm>
            <a:off x="1975104" y="164592"/>
            <a:ext cx="502920" cy="292608"/>
          </a:xfrm>
          <a:prstGeom prst="rect">
            <a:avLst/>
          </a:prstGeom>
          <a:solidFill>
            <a:srgbClr val="3C3489"/>
          </a:solidFill>
          <a:ln w="12700">
            <a:solidFill>
              <a:srgbClr val="818CF8"/>
            </a:solidFill>
            <a:prstDash val="solid"/>
          </a:ln>
        </p:spPr>
      </p:sp>
      <p:sp>
        <p:nvSpPr>
          <p:cNvPr id="8" name="Text 6"/>
          <p:cNvSpPr/>
          <p:nvPr/>
        </p:nvSpPr>
        <p:spPr>
          <a:xfrm>
            <a:off x="1975104" y="164592"/>
            <a:ext cx="502920" cy="292608"/>
          </a:xfrm>
          <a:prstGeom prst="rect">
            <a:avLst/>
          </a:prstGeom>
          <a:noFill/>
          <a:ln/>
        </p:spPr>
        <p:txBody>
          <a:bodyPr wrap="square" lIns="0" tIns="0" rIns="0" bIns="0" rtlCol="0" anchor="ctr"/>
          <a:lstStyle/>
          <a:p>
            <a:pPr algn="ctr" indent="0" marL="0">
              <a:buNone/>
            </a:pPr>
            <a:r>
              <a:rPr lang="en-US" sz="900" b="1" dirty="0">
                <a:solidFill>
                  <a:srgbClr val="818CF8"/>
                </a:solidFill>
              </a:rPr>
              <a:t>NEW ✦</a:t>
            </a:r>
            <a:endParaRPr lang="en-US" sz="900" dirty="0"/>
          </a:p>
        </p:txBody>
      </p:sp>
      <p:sp>
        <p:nvSpPr>
          <p:cNvPr id="9" name="Shape 7"/>
          <p:cNvSpPr/>
          <p:nvPr/>
        </p:nvSpPr>
        <p:spPr>
          <a:xfrm>
            <a:off x="8138160" y="109728"/>
            <a:ext cx="804672" cy="804672"/>
          </a:xfrm>
          <a:prstGeom prst="ellipse">
            <a:avLst/>
          </a:prstGeom>
          <a:solidFill>
            <a:srgbClr val="161B2E"/>
          </a:solidFill>
          <a:ln w="12700">
            <a:solidFill>
              <a:srgbClr val="F59E0B"/>
            </a:solidFill>
            <a:prstDash val="solid"/>
          </a:ln>
        </p:spPr>
      </p:sp>
      <p:pic>
        <p:nvPicPr>
          <p:cNvPr id="10"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11" name="Text 8"/>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Memory Lane (Past Trips + Google Photos)</a:t>
            </a:r>
            <a:endParaRPr lang="en-US" sz="3000" dirty="0"/>
          </a:p>
        </p:txBody>
      </p:sp>
      <p:sp>
        <p:nvSpPr>
          <p:cNvPr id="12" name="Text 9"/>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Your travel history makes every future trip smarter. Learns your taste over time.</a:t>
            </a:r>
            <a:endParaRPr lang="en-US" sz="1300" dirty="0"/>
          </a:p>
        </p:txBody>
      </p:sp>
      <p:sp>
        <p:nvSpPr>
          <p:cNvPr id="13" name="Shape 10"/>
          <p:cNvSpPr/>
          <p:nvPr/>
        </p:nvSpPr>
        <p:spPr>
          <a:xfrm>
            <a:off x="164592" y="1508760"/>
            <a:ext cx="8814816" cy="0"/>
          </a:xfrm>
          <a:prstGeom prst="line">
            <a:avLst/>
          </a:prstGeom>
          <a:noFill/>
          <a:ln w="12700">
            <a:solidFill>
              <a:srgbClr val="1E2640"/>
            </a:solidFill>
            <a:prstDash val="solid"/>
          </a:ln>
        </p:spPr>
      </p:sp>
      <p:sp>
        <p:nvSpPr>
          <p:cNvPr id="14" name="Text 11"/>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5" name="Shape 12"/>
          <p:cNvSpPr/>
          <p:nvPr/>
        </p:nvSpPr>
        <p:spPr>
          <a:xfrm>
            <a:off x="164592" y="1847088"/>
            <a:ext cx="2834640" cy="2377440"/>
          </a:xfrm>
          <a:prstGeom prst="rect">
            <a:avLst/>
          </a:prstGeom>
          <a:solidFill>
            <a:srgbClr val="0F1320"/>
          </a:solidFill>
          <a:ln w="12700">
            <a:solidFill>
              <a:srgbClr val="1E2640"/>
            </a:solidFill>
            <a:prstDash val="solid"/>
          </a:ln>
        </p:spPr>
      </p:sp>
      <p:sp>
        <p:nvSpPr>
          <p:cNvPr id="16" name="Text 13"/>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Connects to Google Photos (or accepts manual photo uploads) and scans past trip photos using GPS metadata embedded in each photo. Builds a 'travel preference profile' from where the user actually went and what they photographed most. This profile — 'loves rooftop bars, avoids museums, prefers street food, morning person' — is passed into every future LLM prompt to personalise suggestions.</a:t>
            </a:r>
            <a:endParaRPr lang="en-US" sz="1150" dirty="0"/>
          </a:p>
        </p:txBody>
      </p:sp>
      <p:sp>
        <p:nvSpPr>
          <p:cNvPr id="17" name="Text 14"/>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8" name="Shape 15"/>
          <p:cNvSpPr/>
          <p:nvPr/>
        </p:nvSpPr>
        <p:spPr>
          <a:xfrm>
            <a:off x="3200400" y="1847088"/>
            <a:ext cx="2834640" cy="2377440"/>
          </a:xfrm>
          <a:prstGeom prst="rect">
            <a:avLst/>
          </a:prstGeom>
          <a:solidFill>
            <a:srgbClr val="0F1320"/>
          </a:solidFill>
          <a:ln w="12700">
            <a:solidFill>
              <a:srgbClr val="1E2640"/>
            </a:solidFill>
            <a:prstDash val="solid"/>
          </a:ln>
        </p:spPr>
      </p:sp>
      <p:sp>
        <p:nvSpPr>
          <p:cNvPr id="19" name="Text 16"/>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'You loved rooftop bars in Goa — here's one in Singapore' is infinitely more powerful than 'popular bars in Singapore.' The app gets smarter with every trip. After 3 trips, it knows you better than any travel agent.</a:t>
            </a:r>
            <a:endParaRPr lang="en-US" sz="1150" dirty="0"/>
          </a:p>
        </p:txBody>
      </p:sp>
      <p:sp>
        <p:nvSpPr>
          <p:cNvPr id="20" name="Text 17"/>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21" name="Shape 18"/>
          <p:cNvSpPr/>
          <p:nvPr/>
        </p:nvSpPr>
        <p:spPr>
          <a:xfrm>
            <a:off x="6236208" y="1847088"/>
            <a:ext cx="2834640" cy="2377440"/>
          </a:xfrm>
          <a:prstGeom prst="rect">
            <a:avLst/>
          </a:prstGeom>
          <a:solidFill>
            <a:srgbClr val="0F1320"/>
          </a:solidFill>
          <a:ln w="12700">
            <a:solidFill>
              <a:srgbClr val="1E2640"/>
            </a:solidFill>
            <a:prstDash val="solid"/>
          </a:ln>
        </p:spPr>
      </p:sp>
      <p:sp>
        <p:nvSpPr>
          <p:cNvPr id="22" name="Text 19"/>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Google Photos API (free, OAuth) or accept photo folder upload.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Parse EXIF data from each photo: GPSLatitude, GPSLongitude, DateTimeOriginal.</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Reverse geocode each cluster of photos → identify places visited.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Send location list to Ollama: 'Based on these places visited on past trips, identify travel preferences and patterns. Return JSON: {preferences: [], avoidances: [], typicalPace: str}'</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Store preference profile in User.travelProfile JSON field.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Inject into itinerary generation prompts as a 'user context' block.</a:t>
            </a:r>
            <a:endParaRPr lang="en-US" sz="1150" dirty="0"/>
          </a:p>
        </p:txBody>
      </p:sp>
      <p:sp>
        <p:nvSpPr>
          <p:cNvPr id="23" name="Shape 20"/>
          <p:cNvSpPr/>
          <p:nvPr/>
        </p:nvSpPr>
        <p:spPr>
          <a:xfrm>
            <a:off x="164592" y="4315968"/>
            <a:ext cx="8814816" cy="658368"/>
          </a:xfrm>
          <a:prstGeom prst="rect">
            <a:avLst/>
          </a:prstGeom>
          <a:solidFill>
            <a:srgbClr val="161B2E"/>
          </a:solidFill>
          <a:ln w="12700">
            <a:solidFill>
              <a:srgbClr val="1E2640"/>
            </a:solidFill>
            <a:prstDash val="solid"/>
          </a:ln>
        </p:spPr>
      </p:sp>
      <p:sp>
        <p:nvSpPr>
          <p:cNvPr id="24" name="Text 21"/>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5" name="Text 22"/>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Google Photos API (free, OAuth required)  ·  EXIF data parsing (exifr npm package)  ·  Nominatim reverse geocoding (free, no key)  ·  Ollama LLM (profile generation)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#13</a:t>
            </a:r>
            <a:endParaRPr lang="en-US" sz="1000" dirty="0"/>
          </a:p>
        </p:txBody>
      </p:sp>
      <p:sp>
        <p:nvSpPr>
          <p:cNvPr id="5" name="Shape 3"/>
          <p:cNvSpPr/>
          <p:nvPr/>
        </p:nvSpPr>
        <p:spPr>
          <a:xfrm>
            <a:off x="713232" y="164592"/>
            <a:ext cx="1188720" cy="292608"/>
          </a:xfrm>
          <a:prstGeom prst="rect">
            <a:avLst/>
          </a:prstGeom>
          <a:solidFill>
            <a:srgbClr val="1E1A3A"/>
          </a:solidFill>
          <a:ln w="12700">
            <a:solidFill>
              <a:srgbClr val="818CF8"/>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A78BFA"/>
                </a:solidFill>
              </a:rPr>
              <a:t>Module: Intelligence</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Local Law Nudges + Rights-Checker</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Know what's acceptable before you do something accidentally offensive or illegal.</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Two modes: (1) Passive nudges — small contextual alerts appear directly on relevant itinerary event cards: 'Photography restricted inside this monument.' 'Dress code: cover shoulders and knees.' 'Alcohol not served here on Fridays.' (2) Active chatbot — user types 'Is it legal to take photos of police in Singapore?' and gets a plain-language answer with cultural context. Not legal advice — cultural and legal awareness delivered at exactly the right moment.</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The difference between an embarrassing moment (being turned away from a temple in shorts) and a serious one (unknowingly breaking a local law). For first-time visitors to Southeast Asia, the Middle East, or Japan, this feature alone prevents multiple uncomfortable incidents per trip.</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Passive nudges: build a JSON dataset of 200+ venue-type + country pairs with associated rules (can be LLM-generated once and cached).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When an event is added to the itinerary, match its category + destination country against the dataset.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If match found: attach nudge text to event object → render as small notice on event card.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Active chatbot: user question + current destination → Ollama prompt: 'For a tourist in {country}: {question}. Give a practical plain-language answer in 2-3 sentences. Clarify this is informational, not legal advice.'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Chat UI: simple message thread component.</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Static JSON dataset (venue rules by country, one-time LLM generation)  ·  Ollama LLM (chatbot answers)  ·  REST Countries API (country context)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#14</a:t>
            </a:r>
            <a:endParaRPr lang="en-US" sz="1000" dirty="0"/>
          </a:p>
        </p:txBody>
      </p:sp>
      <p:sp>
        <p:nvSpPr>
          <p:cNvPr id="5" name="Shape 3"/>
          <p:cNvSpPr/>
          <p:nvPr/>
        </p:nvSpPr>
        <p:spPr>
          <a:xfrm>
            <a:off x="713232" y="164592"/>
            <a:ext cx="1188720" cy="292608"/>
          </a:xfrm>
          <a:prstGeom prst="rect">
            <a:avLst/>
          </a:prstGeom>
          <a:solidFill>
            <a:srgbClr val="1E1A3A"/>
          </a:solidFill>
          <a:ln w="12700">
            <a:solidFill>
              <a:srgbClr val="818CF8"/>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A78BFA"/>
                </a:solidFill>
              </a:rPr>
              <a:t>Module: Intelligence</a:t>
            </a:r>
            <a:endParaRPr lang="en-US" sz="900" dirty="0"/>
          </a:p>
        </p:txBody>
      </p:sp>
      <p:sp>
        <p:nvSpPr>
          <p:cNvPr id="7" name="Shape 5"/>
          <p:cNvSpPr/>
          <p:nvPr/>
        </p:nvSpPr>
        <p:spPr>
          <a:xfrm>
            <a:off x="1975104" y="164592"/>
            <a:ext cx="502920" cy="292608"/>
          </a:xfrm>
          <a:prstGeom prst="rect">
            <a:avLst/>
          </a:prstGeom>
          <a:solidFill>
            <a:srgbClr val="3C3489"/>
          </a:solidFill>
          <a:ln w="12700">
            <a:solidFill>
              <a:srgbClr val="818CF8"/>
            </a:solidFill>
            <a:prstDash val="solid"/>
          </a:ln>
        </p:spPr>
      </p:sp>
      <p:sp>
        <p:nvSpPr>
          <p:cNvPr id="8" name="Text 6"/>
          <p:cNvSpPr/>
          <p:nvPr/>
        </p:nvSpPr>
        <p:spPr>
          <a:xfrm>
            <a:off x="1975104" y="164592"/>
            <a:ext cx="502920" cy="292608"/>
          </a:xfrm>
          <a:prstGeom prst="rect">
            <a:avLst/>
          </a:prstGeom>
          <a:noFill/>
          <a:ln/>
        </p:spPr>
        <p:txBody>
          <a:bodyPr wrap="square" lIns="0" tIns="0" rIns="0" bIns="0" rtlCol="0" anchor="ctr"/>
          <a:lstStyle/>
          <a:p>
            <a:pPr algn="ctr" indent="0" marL="0">
              <a:buNone/>
            </a:pPr>
            <a:r>
              <a:rPr lang="en-US" sz="900" b="1" dirty="0">
                <a:solidFill>
                  <a:srgbClr val="818CF8"/>
                </a:solidFill>
              </a:rPr>
              <a:t>NEW ✦</a:t>
            </a:r>
            <a:endParaRPr lang="en-US" sz="900" dirty="0"/>
          </a:p>
        </p:txBody>
      </p:sp>
      <p:sp>
        <p:nvSpPr>
          <p:cNvPr id="9" name="Shape 7"/>
          <p:cNvSpPr/>
          <p:nvPr/>
        </p:nvSpPr>
        <p:spPr>
          <a:xfrm>
            <a:off x="8138160" y="109728"/>
            <a:ext cx="804672" cy="804672"/>
          </a:xfrm>
          <a:prstGeom prst="ellipse">
            <a:avLst/>
          </a:prstGeom>
          <a:solidFill>
            <a:srgbClr val="161B2E"/>
          </a:solidFill>
          <a:ln w="12700">
            <a:solidFill>
              <a:srgbClr val="F59E0B"/>
            </a:solidFill>
            <a:prstDash val="solid"/>
          </a:ln>
        </p:spPr>
      </p:sp>
      <p:pic>
        <p:nvPicPr>
          <p:cNvPr id="10"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11" name="Text 8"/>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Heatmap</a:t>
            </a:r>
            <a:endParaRPr lang="en-US" sz="3000" dirty="0"/>
          </a:p>
        </p:txBody>
      </p:sp>
      <p:sp>
        <p:nvSpPr>
          <p:cNvPr id="12" name="Text 9"/>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See crowds, prices, and safety at a glance. Decide where to go before you go.</a:t>
            </a:r>
            <a:endParaRPr lang="en-US" sz="1300" dirty="0"/>
          </a:p>
        </p:txBody>
      </p:sp>
      <p:sp>
        <p:nvSpPr>
          <p:cNvPr id="13" name="Shape 10"/>
          <p:cNvSpPr/>
          <p:nvPr/>
        </p:nvSpPr>
        <p:spPr>
          <a:xfrm>
            <a:off x="164592" y="1508760"/>
            <a:ext cx="8814816" cy="0"/>
          </a:xfrm>
          <a:prstGeom prst="line">
            <a:avLst/>
          </a:prstGeom>
          <a:noFill/>
          <a:ln w="12700">
            <a:solidFill>
              <a:srgbClr val="1E2640"/>
            </a:solidFill>
            <a:prstDash val="solid"/>
          </a:ln>
        </p:spPr>
      </p:sp>
      <p:sp>
        <p:nvSpPr>
          <p:cNvPr id="14" name="Text 11"/>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5" name="Shape 12"/>
          <p:cNvSpPr/>
          <p:nvPr/>
        </p:nvSpPr>
        <p:spPr>
          <a:xfrm>
            <a:off x="164592" y="1847088"/>
            <a:ext cx="2834640" cy="2377440"/>
          </a:xfrm>
          <a:prstGeom prst="rect">
            <a:avLst/>
          </a:prstGeom>
          <a:solidFill>
            <a:srgbClr val="0F1320"/>
          </a:solidFill>
          <a:ln w="12700">
            <a:solidFill>
              <a:srgbClr val="1E2640"/>
            </a:solidFill>
            <a:prstDash val="solid"/>
          </a:ln>
        </p:spPr>
      </p:sp>
      <p:sp>
        <p:nvSpPr>
          <p:cNvPr id="16" name="Text 13"/>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An interactive map with three toggleable overlay layers: (1) Crowd density heatmap — shows how busy each area of the city is, segmented by time of day (morning/afternoon/evening/night), sourced from OpenStreetMap and Overpass foot-traffic proxy data. (2) Price heatmap — colour-codes neighbourhoods from cheap green to expensive red based on average venue price data. (3) Safety overlay — shows incident density by district from publicly available data.</a:t>
            </a:r>
            <a:endParaRPr lang="en-US" sz="1150" dirty="0"/>
          </a:p>
        </p:txBody>
      </p:sp>
      <p:sp>
        <p:nvSpPr>
          <p:cNvPr id="17" name="Text 14"/>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8" name="Shape 15"/>
          <p:cNvSpPr/>
          <p:nvPr/>
        </p:nvSpPr>
        <p:spPr>
          <a:xfrm>
            <a:off x="3200400" y="1847088"/>
            <a:ext cx="2834640" cy="2377440"/>
          </a:xfrm>
          <a:prstGeom prst="rect">
            <a:avLst/>
          </a:prstGeom>
          <a:solidFill>
            <a:srgbClr val="0F1320"/>
          </a:solidFill>
          <a:ln w="12700">
            <a:solidFill>
              <a:srgbClr val="1E2640"/>
            </a:solidFill>
            <a:prstDash val="solid"/>
          </a:ln>
        </p:spPr>
      </p:sp>
      <p:sp>
        <p:nvSpPr>
          <p:cNvPr id="19" name="Text 16"/>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Answers the questions every traveller asks before choosing where to eat or stay: 'Is this neighbourhood too touristy at 12PM?' 'Are restaurants near my hotel expensive?' 'Is it safe to walk here at 9PM?' All answered visually in 5 seconds rather than 30 minutes of Google research.</a:t>
            </a:r>
            <a:endParaRPr lang="en-US" sz="1150" dirty="0"/>
          </a:p>
        </p:txBody>
      </p:sp>
      <p:sp>
        <p:nvSpPr>
          <p:cNvPr id="20" name="Text 17"/>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21" name="Shape 18"/>
          <p:cNvSpPr/>
          <p:nvPr/>
        </p:nvSpPr>
        <p:spPr>
          <a:xfrm>
            <a:off x="6236208" y="1847088"/>
            <a:ext cx="2834640" cy="2377440"/>
          </a:xfrm>
          <a:prstGeom prst="rect">
            <a:avLst/>
          </a:prstGeom>
          <a:solidFill>
            <a:srgbClr val="0F1320"/>
          </a:solidFill>
          <a:ln w="12700">
            <a:solidFill>
              <a:srgbClr val="1E2640"/>
            </a:solidFill>
            <a:prstDash val="solid"/>
          </a:ln>
        </p:spPr>
      </p:sp>
      <p:sp>
        <p:nvSpPr>
          <p:cNvPr id="22" name="Text 19"/>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Base map: Leaflet.js + OpenStreetMap tiles (both free, no key).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Crowd data: query Overpass API for POI density per grid cell (higher POI density = proxy for crowding). Segment by time category.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Price data: query Foursquare Places API for average price tier per neighbourhood grid.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Safety data: use public crime/incident datasets (city-specific, varies) or omit and show only crowd + price.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Render heatmap layer with Leaflet.heat plugin (open source).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Toggle buttons in map UI: Crowd / Price / Safety.</a:t>
            </a:r>
            <a:endParaRPr lang="en-US" sz="1150" dirty="0"/>
          </a:p>
        </p:txBody>
      </p:sp>
      <p:sp>
        <p:nvSpPr>
          <p:cNvPr id="23" name="Shape 20"/>
          <p:cNvSpPr/>
          <p:nvPr/>
        </p:nvSpPr>
        <p:spPr>
          <a:xfrm>
            <a:off x="164592" y="4315968"/>
            <a:ext cx="8814816" cy="658368"/>
          </a:xfrm>
          <a:prstGeom prst="rect">
            <a:avLst/>
          </a:prstGeom>
          <a:solidFill>
            <a:srgbClr val="161B2E"/>
          </a:solidFill>
          <a:ln w="12700">
            <a:solidFill>
              <a:srgbClr val="1E2640"/>
            </a:solidFill>
            <a:prstDash val="solid"/>
          </a:ln>
        </p:spPr>
      </p:sp>
      <p:sp>
        <p:nvSpPr>
          <p:cNvPr id="24" name="Text 21"/>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5" name="Text 22"/>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Leaflet.js (open source map library)  ·  OpenStreetMap tiles (free, no key)  ·  Overpass API (POI density, free)  ·  Foursquare Places (price data, 1000 free/day)  ·  Leaflet.heat plugin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#15</a:t>
            </a:r>
            <a:endParaRPr lang="en-US" sz="1000" dirty="0"/>
          </a:p>
        </p:txBody>
      </p:sp>
      <p:sp>
        <p:nvSpPr>
          <p:cNvPr id="5" name="Shape 3"/>
          <p:cNvSpPr/>
          <p:nvPr/>
        </p:nvSpPr>
        <p:spPr>
          <a:xfrm>
            <a:off x="713232" y="164592"/>
            <a:ext cx="1188720" cy="292608"/>
          </a:xfrm>
          <a:prstGeom prst="rect">
            <a:avLst/>
          </a:prstGeom>
          <a:solidFill>
            <a:srgbClr val="2A1F00"/>
          </a:solidFill>
          <a:ln w="12700">
            <a:solidFill>
              <a:srgbClr val="F59E0B"/>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FCD34D"/>
                </a:solidFill>
              </a:rPr>
              <a:t>Module: Disruption</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Proactive Delay Predictor</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Warned 3 hours before disruption. You rebook before the crowd even notices.</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Monitors three data streams for every upcoming flight in the user's trip: (1) weather at origin and destination airports, (2) historical delay rate for that specific flight number and day-of-week, (3) live flight tracking via OpenSky Network. When all three signals converge on likely disruption, an alert is sent up to 3 hours before the scheduled departure — giving the user a significant head start over 200 other passengers who will only find out at the gate.</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Reactive disruption management (you find out when it happens) vs predictive (you find out before it's certain). The difference in outcomes is enormous. You rebook while seats are still available. You are not competing with 200 other passengers for 12 remaining seats.</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For each FlightBooking: schedule background job 24h before departure.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Open-Meteo API: fetch weather for origin + destination airports for departure day.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OpenSky Network API: query current aircraft status + recent delay history for flight number.</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Build a delay risk score: weather_risk (0-1) + historical_delay_rate (0-1) → weighted average.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If risk_score &gt; 0.65: push proactive alert to UI with 'Pre-rebook now' CTA.</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Store alert in DB to avoid duplicate notifications.</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Open-Meteo API (weather, free, no key)  ·  OpenSky Network API (live flight data, free, no key)  ·  node-cron (background job scheduling)  ·  WebSocket or polling for real-time alert push</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#16</a:t>
            </a:r>
            <a:endParaRPr lang="en-US" sz="1000" dirty="0"/>
          </a:p>
        </p:txBody>
      </p:sp>
      <p:sp>
        <p:nvSpPr>
          <p:cNvPr id="5" name="Shape 3"/>
          <p:cNvSpPr/>
          <p:nvPr/>
        </p:nvSpPr>
        <p:spPr>
          <a:xfrm>
            <a:off x="713232" y="164592"/>
            <a:ext cx="1188720" cy="292608"/>
          </a:xfrm>
          <a:prstGeom prst="rect">
            <a:avLst/>
          </a:prstGeom>
          <a:solidFill>
            <a:srgbClr val="2A1F00"/>
          </a:solidFill>
          <a:ln w="12700">
            <a:solidFill>
              <a:srgbClr val="F59E0B"/>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FCD34D"/>
                </a:solidFill>
              </a:rPr>
              <a:t>Module: Disruption</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Auto Flight Alternative Holder</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Disruption detected → 3 alternatives held → best one pre-selected → you just confirm.</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The moment a disruption is confirmed, the system queries the flight dataset for alternatives on the same route within ±6 hours of the original departure. Returns exactly 3 options, each scored by a weighted formula: 40% weight on earliest arrival time (most important — time is precious during disruption), 30% on price difference from original, 30% on whether the seat type matches user preference (aisle/window/business). The best-scored option is pre-selected. User confirms or chooses another.</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Compresses the most stressful 45 minutes of any trip into a 10-second decision. You don't research, you don't search, you don't compare. Three pre-evaluated options appear. Tap the one you want. Done.</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On disruption trigger: call MockFlightService.findAlternatives(origin, dest, date, maxResults: 3).</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MockFlightService queries static JSON of 30 flights filtered by route + time window.</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For each alternative: compute score = (0.4 × arrivalEarliness) + (0.3 × (1 - priceDelta/originalPrice)) + (0.3 × seatMatch).</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Sort by score desc → return top 3.</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Pre-select index[0] as recommended.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Render 3 flight cards in UI — selected card gets amber border + 'Best match' pill.</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MockFlightService (static JSON, 30 flights, 6 routes — no API needed for demo)  ·  AviationStack API (real data, 100 free calls/month — use for live demo if available)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#17</a:t>
            </a:r>
            <a:endParaRPr lang="en-US" sz="1000" dirty="0"/>
          </a:p>
        </p:txBody>
      </p:sp>
      <p:sp>
        <p:nvSpPr>
          <p:cNvPr id="5" name="Shape 3"/>
          <p:cNvSpPr/>
          <p:nvPr/>
        </p:nvSpPr>
        <p:spPr>
          <a:xfrm>
            <a:off x="713232" y="164592"/>
            <a:ext cx="1188720" cy="292608"/>
          </a:xfrm>
          <a:prstGeom prst="rect">
            <a:avLst/>
          </a:prstGeom>
          <a:solidFill>
            <a:srgbClr val="2A1F00"/>
          </a:solidFill>
          <a:ln w="12700">
            <a:solidFill>
              <a:srgbClr val="F59E0B"/>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FCD34D"/>
                </a:solidFill>
              </a:rPr>
              <a:t>Module: Disruption</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Hotel + Cab Auto Time-Shift</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New flight time → hotel and cab update themselves. Zero phone calls.</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After a new flight is selected, the system automatically recalculates all time-sensitive bookings. Hotel check-in: new arrival time + 2 hours buffer = new check-in time. If the hotel cannot hold until the new time, an alternative nearby hotel with available rooms is flagged. Pre-booked cab: new pickup time = new arrival time at airport + standard baggage claim duration (45 min). All changes are applied to the DB records and confirmed with the user in a single notification.</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The scenario TripMind eliminates: landing at 8 PM when your hotel check-in closed at 4 PM, finding your room released, making 6 phone calls from an airport to sort accommodation. This feature makes that scenario impossible.</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After new flight confirmed: retrieve associated HotelBooking and CabBooking for the trip.</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Calculate: newHotelCheckIn = selectedFlight.arrivalTime + 120 minutes.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Update HotelBooking.checkIn in DB.</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Calculate: newCabPickup = selectedFlight.arrivalTime + 45 minutes (baggage claim buffer).</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Update CabBooking.pickupTime in DB.</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If newHotelCheckIn &gt; hotel.latestCheckIn (from venue data): flag 'Alternative hotel needed' → query Overpass for nearby hotels.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7. Show update summary in UI: old vs new times side-by-side.</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Internal DB update logic (Prisma)  ·  Overpass API (fallback hotel search if needed)  ·  No external booking API needed for demo — mock data</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#18</a:t>
            </a:r>
            <a:endParaRPr lang="en-US" sz="1000" dirty="0"/>
          </a:p>
        </p:txBody>
      </p:sp>
      <p:sp>
        <p:nvSpPr>
          <p:cNvPr id="5" name="Shape 3"/>
          <p:cNvSpPr/>
          <p:nvPr/>
        </p:nvSpPr>
        <p:spPr>
          <a:xfrm>
            <a:off x="713232" y="164592"/>
            <a:ext cx="1188720" cy="292608"/>
          </a:xfrm>
          <a:prstGeom prst="rect">
            <a:avLst/>
          </a:prstGeom>
          <a:solidFill>
            <a:srgbClr val="2A1F00"/>
          </a:solidFill>
          <a:ln w="12700">
            <a:solidFill>
              <a:srgbClr val="F59E0B"/>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FCD34D"/>
                </a:solidFill>
              </a:rPr>
              <a:t>Module: Disruption</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AI Agent Full Auto-Rebook</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Flight cancelled → agent fixes everything → sends you a new complete itinerary. Autonomous.</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The complete autonomous loop. When a disruption is confirmed: (1) agent finds best alternative flight from dataset, (2) books it (mock confirmation), (3) shifts hotel check-in, (4) reschedules cab, (5) rebuilds the entire affected day's itinerary around the new timeline, (6) sends the user a new complete day plan. The user receives one notification when everything is done: 'We've sorted it. Here's your updated plan.' No decisions required unless the user wants to override.</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This is the product's core promise in its most complete form. The contrast with current reality is stark: today, a flight cancellation requires 45+ minutes of the user's time and significant stress. TripMind reduces that to one tap to confirm. The agent does everything else.</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Chain all disruption use-cases in sequence: TriggerDisruptionShield → selectBestAlternative → updateHotelBooking → updateCabBooking → rebuildItineraryDay.</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Run as async pipeline with status events broadcast to UI via WebSocket.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UI shows a 'Resolving disruption...' animation with step-by-step progress: Flight ✓ → Hotel ✓ → Cab ✓ → Itinerary ✓.</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On pipeline completion: push full DisruptionResolution object to UI.</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User sees: updated flight card + updated hotel time + QR confirmation card.</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Internal async pipeline (Node.js async/await chain)  ·  WebSocket (real-time progress updates to UI)  ·  Ollama LLM (rebuild affected itinerary day)  ·  Prisma DB</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#19</a:t>
            </a:r>
            <a:endParaRPr lang="en-US" sz="1000" dirty="0"/>
          </a:p>
        </p:txBody>
      </p:sp>
      <p:sp>
        <p:nvSpPr>
          <p:cNvPr id="5" name="Shape 3"/>
          <p:cNvSpPr/>
          <p:nvPr/>
        </p:nvSpPr>
        <p:spPr>
          <a:xfrm>
            <a:off x="713232" y="164592"/>
            <a:ext cx="1188720" cy="292608"/>
          </a:xfrm>
          <a:prstGeom prst="rect">
            <a:avLst/>
          </a:prstGeom>
          <a:solidFill>
            <a:srgbClr val="2A1F00"/>
          </a:solidFill>
          <a:ln w="12700">
            <a:solidFill>
              <a:srgbClr val="F59E0B"/>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FCD34D"/>
                </a:solidFill>
              </a:rPr>
              <a:t>Module: Disruption</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QR Confirm / Cancel</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One QR. Two buttons. Confirm &amp; Pay or Cancel. That's it. Works offline.</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After all disruption resolution is complete, the user receives a boarding-pass-styled QR card. The QR encodes a confirmation URL with a unique short token: tripmind.app/confirm/{token}?action=pay&amp;amount=4200&amp;currency=INR. Two buttons below the QR: 'Confirm &amp; Pay ₹4,200' (amber primary button) and 'Cancel booking' (red ghost button). The QR card is generated entirely on-device by the qrcode npm package — no external API call, no internet required, no failure risk on demo day.</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This is the moment that is remembered. Every other solution — airlines, travel apps, TMCs — ends their disruption flow with a form, a phone call, or a multi-step checkout. TripMind ends it with a QR card and two buttons. The simplicity is the point. Judges and users both feel the contrast immediately.</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Generate UUID confirmation token: crypto.randomUUID().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Build confirmation URL: https://tripmind.app/confirm/{token}?action=pay&amp;amount={price}&amp;currency={curr}&amp;flight={flightId}.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npm install qrcode → call QRCode.toDataURL(confirmationURL) → returns base64 PNG.</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Render QR card component: white QR block (180×180) on left, booking summary on right, dashed divider, two buttons below.</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'Confirm' button: POST /api/disruption/confirm/{token} → updates FlightBooking.status to 'confirmed'.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'Cancel' button: POST /api/disruption/cancel/{token} → reverts to original booking or marks cancelled.</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qrcode npm package (local, zero internet, zero cost)  ·  crypto.randomUUID() (built-in Node.js)  ·  Internal confirm/cancel API endpoints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#20</a:t>
            </a:r>
            <a:endParaRPr lang="en-US" sz="1000" dirty="0"/>
          </a:p>
        </p:txBody>
      </p:sp>
      <p:sp>
        <p:nvSpPr>
          <p:cNvPr id="5" name="Shape 3"/>
          <p:cNvSpPr/>
          <p:nvPr/>
        </p:nvSpPr>
        <p:spPr>
          <a:xfrm>
            <a:off x="713232" y="164592"/>
            <a:ext cx="1188720" cy="292608"/>
          </a:xfrm>
          <a:prstGeom prst="rect">
            <a:avLst/>
          </a:prstGeom>
          <a:solidFill>
            <a:srgbClr val="2A1F00"/>
          </a:solidFill>
          <a:ln w="12700">
            <a:solidFill>
              <a:srgbClr val="F59E0B"/>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FCD34D"/>
                </a:solidFill>
              </a:rPr>
              <a:t>Module: Disruption</a:t>
            </a:r>
            <a:endParaRPr lang="en-US" sz="900" dirty="0"/>
          </a:p>
        </p:txBody>
      </p:sp>
      <p:sp>
        <p:nvSpPr>
          <p:cNvPr id="7" name="Shape 5"/>
          <p:cNvSpPr/>
          <p:nvPr/>
        </p:nvSpPr>
        <p:spPr>
          <a:xfrm>
            <a:off x="1975104" y="164592"/>
            <a:ext cx="502920" cy="292608"/>
          </a:xfrm>
          <a:prstGeom prst="rect">
            <a:avLst/>
          </a:prstGeom>
          <a:solidFill>
            <a:srgbClr val="3C3489"/>
          </a:solidFill>
          <a:ln w="12700">
            <a:solidFill>
              <a:srgbClr val="818CF8"/>
            </a:solidFill>
            <a:prstDash val="solid"/>
          </a:ln>
        </p:spPr>
      </p:sp>
      <p:sp>
        <p:nvSpPr>
          <p:cNvPr id="8" name="Text 6"/>
          <p:cNvSpPr/>
          <p:nvPr/>
        </p:nvSpPr>
        <p:spPr>
          <a:xfrm>
            <a:off x="1975104" y="164592"/>
            <a:ext cx="502920" cy="292608"/>
          </a:xfrm>
          <a:prstGeom prst="rect">
            <a:avLst/>
          </a:prstGeom>
          <a:noFill/>
          <a:ln/>
        </p:spPr>
        <p:txBody>
          <a:bodyPr wrap="square" lIns="0" tIns="0" rIns="0" bIns="0" rtlCol="0" anchor="ctr"/>
          <a:lstStyle/>
          <a:p>
            <a:pPr algn="ctr" indent="0" marL="0">
              <a:buNone/>
            </a:pPr>
            <a:r>
              <a:rPr lang="en-US" sz="900" b="1" dirty="0">
                <a:solidFill>
                  <a:srgbClr val="818CF8"/>
                </a:solidFill>
              </a:rPr>
              <a:t>NEW ✦</a:t>
            </a:r>
            <a:endParaRPr lang="en-US" sz="900" dirty="0"/>
          </a:p>
        </p:txBody>
      </p:sp>
      <p:sp>
        <p:nvSpPr>
          <p:cNvPr id="9" name="Shape 7"/>
          <p:cNvSpPr/>
          <p:nvPr/>
        </p:nvSpPr>
        <p:spPr>
          <a:xfrm>
            <a:off x="8138160" y="109728"/>
            <a:ext cx="804672" cy="804672"/>
          </a:xfrm>
          <a:prstGeom prst="ellipse">
            <a:avLst/>
          </a:prstGeom>
          <a:solidFill>
            <a:srgbClr val="161B2E"/>
          </a:solidFill>
          <a:ln w="12700">
            <a:solidFill>
              <a:srgbClr val="F59E0B"/>
            </a:solidFill>
            <a:prstDash val="solid"/>
          </a:ln>
        </p:spPr>
      </p:sp>
      <p:pic>
        <p:nvPicPr>
          <p:cNvPr id="10"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11" name="Text 8"/>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Instant Cancellation Guardian</a:t>
            </a:r>
            <a:endParaRPr lang="en-US" sz="3000" dirty="0"/>
          </a:p>
        </p:txBody>
      </p:sp>
      <p:sp>
        <p:nvSpPr>
          <p:cNvPr id="12" name="Text 9"/>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Your Sri Lanka moment — return flight cancelled mid-trip — handled before you even open the app.</a:t>
            </a:r>
            <a:endParaRPr lang="en-US" sz="1300" dirty="0"/>
          </a:p>
        </p:txBody>
      </p:sp>
      <p:sp>
        <p:nvSpPr>
          <p:cNvPr id="13" name="Shape 10"/>
          <p:cNvSpPr/>
          <p:nvPr/>
        </p:nvSpPr>
        <p:spPr>
          <a:xfrm>
            <a:off x="164592" y="1508760"/>
            <a:ext cx="8814816" cy="0"/>
          </a:xfrm>
          <a:prstGeom prst="line">
            <a:avLst/>
          </a:prstGeom>
          <a:noFill/>
          <a:ln w="12700">
            <a:solidFill>
              <a:srgbClr val="1E2640"/>
            </a:solidFill>
            <a:prstDash val="solid"/>
          </a:ln>
        </p:spPr>
      </p:sp>
      <p:sp>
        <p:nvSpPr>
          <p:cNvPr id="14" name="Text 11"/>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5" name="Shape 12"/>
          <p:cNvSpPr/>
          <p:nvPr/>
        </p:nvSpPr>
        <p:spPr>
          <a:xfrm>
            <a:off x="164592" y="1847088"/>
            <a:ext cx="2834640" cy="2377440"/>
          </a:xfrm>
          <a:prstGeom prst="rect">
            <a:avLst/>
          </a:prstGeom>
          <a:solidFill>
            <a:srgbClr val="0F1320"/>
          </a:solidFill>
          <a:ln w="12700">
            <a:solidFill>
              <a:srgbClr val="1E2640"/>
            </a:solidFill>
            <a:prstDash val="solid"/>
          </a:ln>
        </p:spPr>
      </p:sp>
      <p:sp>
        <p:nvSpPr>
          <p:cNvPr id="16" name="Text 13"/>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Monitors ALL bookings throughout the entire trip duration — not just outbound flights, but return flights and hotel stays too. The moment a cancellation notification arrives (detected via email parsing or webhook simulation), the system immediately holds an alternative seat on a comparable flight before the user sees the message. It also checks that the user's linked payment method has sufficient balance before auto-confirming anything. The user receives: 'Your return flight was cancelled. We've held SQ422 at ₹8,200 — confirm or cancel.'</a:t>
            </a:r>
            <a:endParaRPr lang="en-US" sz="1150" dirty="0"/>
          </a:p>
        </p:txBody>
      </p:sp>
      <p:sp>
        <p:nvSpPr>
          <p:cNvPr id="17" name="Text 14"/>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8" name="Shape 15"/>
          <p:cNvSpPr/>
          <p:nvPr/>
        </p:nvSpPr>
        <p:spPr>
          <a:xfrm>
            <a:off x="3200400" y="1847088"/>
            <a:ext cx="2834640" cy="2377440"/>
          </a:xfrm>
          <a:prstGeom prst="rect">
            <a:avLst/>
          </a:prstGeom>
          <a:solidFill>
            <a:srgbClr val="0F1320"/>
          </a:solidFill>
          <a:ln w="12700">
            <a:solidFill>
              <a:srgbClr val="1E2640"/>
            </a:solidFill>
            <a:prstDash val="solid"/>
          </a:ln>
        </p:spPr>
      </p:sp>
      <p:sp>
        <p:nvSpPr>
          <p:cNvPr id="19" name="Text 16"/>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This feature was built from a real experience: being in Sri Lanka, enjoying the trip, and suddenly getting a message saying the return ticket was cancelled. The panic of that moment — being in a foreign country, needing to rebook, hoping you have enough money — is exactly what this feature eliminates. The alternative is held before you panic. The balance is checked before you commit.</a:t>
            </a:r>
            <a:endParaRPr lang="en-US" sz="1150" dirty="0"/>
          </a:p>
        </p:txBody>
      </p:sp>
      <p:sp>
        <p:nvSpPr>
          <p:cNvPr id="20" name="Text 17"/>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21" name="Shape 18"/>
          <p:cNvSpPr/>
          <p:nvPr/>
        </p:nvSpPr>
        <p:spPr>
          <a:xfrm>
            <a:off x="6236208" y="1847088"/>
            <a:ext cx="2834640" cy="2377440"/>
          </a:xfrm>
          <a:prstGeom prst="rect">
            <a:avLst/>
          </a:prstGeom>
          <a:solidFill>
            <a:srgbClr val="0F1320"/>
          </a:solidFill>
          <a:ln w="12700">
            <a:solidFill>
              <a:srgbClr val="1E2640"/>
            </a:solidFill>
            <a:prstDash val="solid"/>
          </a:ln>
        </p:spPr>
      </p:sp>
      <p:sp>
        <p:nvSpPr>
          <p:cNvPr id="22" name="Text 19"/>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Schedule monitoring job for ALL FlightBooking records with departure in future.</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Two detection methods: (a) Poll AviationStack API for booking status changes every 30 min, (b) Simulated webhook for demo: UI button 'Simulate cancellation'.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On cancellation detected: immediately call MockFlightService.findAlternatives() → hold best result.</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Check User.paymentBalance (mock field) &gt;= alternative.price before confirming hold.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If balance sufficient: push notification 'Return flight cancelled. Alternative held. Confirm?' with QR card.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If balance insufficient: push 'Return flight cancelled. Alternative costs ₹X. Your balance: ₹Y. Add funds first.'</a:t>
            </a:r>
            <a:endParaRPr lang="en-US" sz="1150" dirty="0"/>
          </a:p>
        </p:txBody>
      </p:sp>
      <p:sp>
        <p:nvSpPr>
          <p:cNvPr id="23" name="Shape 20"/>
          <p:cNvSpPr/>
          <p:nvPr/>
        </p:nvSpPr>
        <p:spPr>
          <a:xfrm>
            <a:off x="164592" y="4315968"/>
            <a:ext cx="8814816" cy="658368"/>
          </a:xfrm>
          <a:prstGeom prst="rect">
            <a:avLst/>
          </a:prstGeom>
          <a:solidFill>
            <a:srgbClr val="161B2E"/>
          </a:solidFill>
          <a:ln w="12700">
            <a:solidFill>
              <a:srgbClr val="1E2640"/>
            </a:solidFill>
            <a:prstDash val="solid"/>
          </a:ln>
        </p:spPr>
      </p:sp>
      <p:sp>
        <p:nvSpPr>
          <p:cNvPr id="24" name="Text 21"/>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5" name="Text 22"/>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AviationStack API (booking status, 100 free calls/month)  ·  MockFlightService (demo fallback, always works offline)  ·  node-cron (polling job)  ·  User.paymentBalance mock field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164592" y="164592"/>
            <a:ext cx="475488" cy="292608"/>
          </a:xfrm>
          <a:prstGeom prst="rect">
            <a:avLst/>
          </a:prstGeom>
          <a:solidFill>
            <a:srgbClr val="161B2E"/>
          </a:solidFill>
          <a:ln w="12700">
            <a:solidFill>
              <a:srgbClr val="F59E0B"/>
            </a:solidFill>
            <a:prstDash val="solid"/>
          </a:ln>
        </p:spPr>
      </p:sp>
      <p:sp>
        <p:nvSpPr>
          <p:cNvPr id="4" name="Text 2"/>
          <p:cNvSpPr/>
          <p:nvPr/>
        </p:nvSpPr>
        <p:spPr>
          <a:xfrm>
            <a:off x="164592" y="164592"/>
            <a:ext cx="475488" cy="292608"/>
          </a:xfrm>
          <a:prstGeom prst="rect">
            <a:avLst/>
          </a:prstGeom>
          <a:noFill/>
          <a:ln/>
        </p:spPr>
        <p:txBody>
          <a:bodyPr wrap="square" lIns="0" tIns="0" rIns="0" bIns="0" rtlCol="0" anchor="ctr"/>
          <a:lstStyle/>
          <a:p>
            <a:pPr algn="ctr" indent="0" marL="0">
              <a:buNone/>
            </a:pPr>
            <a:r>
              <a:rPr lang="en-US" sz="1000" b="1" dirty="0">
                <a:solidFill>
                  <a:srgbClr val="F59E0B"/>
                </a:solidFill>
              </a:rPr>
              <a:t>#21</a:t>
            </a:r>
            <a:endParaRPr lang="en-US" sz="1000" dirty="0"/>
          </a:p>
        </p:txBody>
      </p:sp>
      <p:sp>
        <p:nvSpPr>
          <p:cNvPr id="5" name="Shape 3"/>
          <p:cNvSpPr/>
          <p:nvPr/>
        </p:nvSpPr>
        <p:spPr>
          <a:xfrm>
            <a:off x="713232" y="164592"/>
            <a:ext cx="1188720" cy="292608"/>
          </a:xfrm>
          <a:prstGeom prst="rect">
            <a:avLst/>
          </a:prstGeom>
          <a:solidFill>
            <a:srgbClr val="2A1F00"/>
          </a:solidFill>
          <a:ln w="12700">
            <a:solidFill>
              <a:srgbClr val="F59E0B"/>
            </a:solidFill>
            <a:prstDash val="solid"/>
          </a:ln>
        </p:spPr>
      </p:sp>
      <p:sp>
        <p:nvSpPr>
          <p:cNvPr id="6" name="Text 4"/>
          <p:cNvSpPr/>
          <p:nvPr/>
        </p:nvSpPr>
        <p:spPr>
          <a:xfrm>
            <a:off x="713232" y="164592"/>
            <a:ext cx="1188720" cy="292608"/>
          </a:xfrm>
          <a:prstGeom prst="rect">
            <a:avLst/>
          </a:prstGeom>
          <a:noFill/>
          <a:ln/>
        </p:spPr>
        <p:txBody>
          <a:bodyPr wrap="square" lIns="0" tIns="0" rIns="0" bIns="0" rtlCol="0" anchor="ctr"/>
          <a:lstStyle/>
          <a:p>
            <a:pPr algn="ctr" indent="0" marL="0">
              <a:buNone/>
            </a:pPr>
            <a:r>
              <a:rPr lang="en-US" sz="900" b="1" dirty="0">
                <a:solidFill>
                  <a:srgbClr val="FCD34D"/>
                </a:solidFill>
              </a:rPr>
              <a:t>Module: Disruption</a:t>
            </a:r>
            <a:endParaRPr lang="en-US" sz="900" dirty="0"/>
          </a:p>
        </p:txBody>
      </p:sp>
      <p:sp>
        <p:nvSpPr>
          <p:cNvPr id="7" name="Shape 5"/>
          <p:cNvSpPr/>
          <p:nvPr/>
        </p:nvSpPr>
        <p:spPr>
          <a:xfrm>
            <a:off x="8138160" y="109728"/>
            <a:ext cx="804672" cy="804672"/>
          </a:xfrm>
          <a:prstGeom prst="ellipse">
            <a:avLst/>
          </a:prstGeom>
          <a:solidFill>
            <a:srgbClr val="161B2E"/>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8266176" y="237744"/>
            <a:ext cx="548640" cy="548640"/>
          </a:xfrm>
          <a:prstGeom prst="rect">
            <a:avLst/>
          </a:prstGeom>
        </p:spPr>
      </p:pic>
      <p:sp>
        <p:nvSpPr>
          <p:cNvPr id="9" name="Text 6"/>
          <p:cNvSpPr/>
          <p:nvPr/>
        </p:nvSpPr>
        <p:spPr>
          <a:xfrm>
            <a:off x="164592" y="548640"/>
            <a:ext cx="7772400" cy="658368"/>
          </a:xfrm>
          <a:prstGeom prst="rect">
            <a:avLst/>
          </a:prstGeom>
          <a:noFill/>
          <a:ln/>
        </p:spPr>
        <p:txBody>
          <a:bodyPr wrap="square" lIns="0" tIns="0" rIns="0" bIns="0" rtlCol="0" anchor="ctr"/>
          <a:lstStyle/>
          <a:p>
            <a:pPr indent="0" marL="0">
              <a:buNone/>
            </a:pPr>
            <a:r>
              <a:rPr lang="en-US" sz="3000" b="1" dirty="0">
                <a:solidFill>
                  <a:srgbClr val="F0F2F8"/>
                </a:solidFill>
                <a:latin typeface="Arial" pitchFamily="34" charset="0"/>
                <a:ea typeface="Arial" pitchFamily="34" charset="-122"/>
                <a:cs typeface="Arial" pitchFamily="34" charset="-120"/>
              </a:rPr>
              <a:t>Full Itinerary Resend After Disruption</a:t>
            </a:r>
            <a:endParaRPr lang="en-US" sz="3000" dirty="0"/>
          </a:p>
        </p:txBody>
      </p:sp>
      <p:sp>
        <p:nvSpPr>
          <p:cNvPr id="10" name="Text 7"/>
          <p:cNvSpPr/>
          <p:nvPr/>
        </p:nvSpPr>
        <p:spPr>
          <a:xfrm>
            <a:off x="164592" y="1170432"/>
            <a:ext cx="7772400" cy="274320"/>
          </a:xfrm>
          <a:prstGeom prst="rect">
            <a:avLst/>
          </a:prstGeom>
          <a:noFill/>
          <a:ln/>
        </p:spPr>
        <p:txBody>
          <a:bodyPr wrap="square" lIns="0" tIns="0" rIns="0" bIns="0" rtlCol="0" anchor="ctr"/>
          <a:lstStyle/>
          <a:p>
            <a:pPr indent="0" marL="0">
              <a:buNone/>
            </a:pPr>
            <a:r>
              <a:rPr lang="en-US" sz="1300" i="1" dirty="0">
                <a:solidFill>
                  <a:srgbClr val="F59E0B"/>
                </a:solidFill>
                <a:latin typeface="Arial" pitchFamily="34" charset="0"/>
                <a:ea typeface="Arial" pitchFamily="34" charset="-122"/>
                <a:cs typeface="Arial" pitchFamily="34" charset="-120"/>
              </a:rPr>
              <a:t>You never see a broken schedule. Every disruption ends with a complete, coherent plan.</a:t>
            </a:r>
            <a:endParaRPr lang="en-US" sz="1300" dirty="0"/>
          </a:p>
        </p:txBody>
      </p:sp>
      <p:sp>
        <p:nvSpPr>
          <p:cNvPr id="11" name="Shape 8"/>
          <p:cNvSpPr/>
          <p:nvPr/>
        </p:nvSpPr>
        <p:spPr>
          <a:xfrm>
            <a:off x="164592" y="1508760"/>
            <a:ext cx="8814816" cy="0"/>
          </a:xfrm>
          <a:prstGeom prst="line">
            <a:avLst/>
          </a:prstGeom>
          <a:noFill/>
          <a:ln w="12700">
            <a:solidFill>
              <a:srgbClr val="1E2640"/>
            </a:solidFill>
            <a:prstDash val="solid"/>
          </a:ln>
        </p:spPr>
      </p:sp>
      <p:sp>
        <p:nvSpPr>
          <p:cNvPr id="12" name="Text 9"/>
          <p:cNvSpPr/>
          <p:nvPr/>
        </p:nvSpPr>
        <p:spPr>
          <a:xfrm>
            <a:off x="164592"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WHAT IT DOES</a:t>
            </a:r>
            <a:endParaRPr lang="en-US" sz="800" dirty="0"/>
          </a:p>
        </p:txBody>
      </p:sp>
      <p:sp>
        <p:nvSpPr>
          <p:cNvPr id="13" name="Shape 10"/>
          <p:cNvSpPr/>
          <p:nvPr/>
        </p:nvSpPr>
        <p:spPr>
          <a:xfrm>
            <a:off x="164592" y="1847088"/>
            <a:ext cx="2834640" cy="2377440"/>
          </a:xfrm>
          <a:prstGeom prst="rect">
            <a:avLst/>
          </a:prstGeom>
          <a:solidFill>
            <a:srgbClr val="0F1320"/>
          </a:solidFill>
          <a:ln w="12700">
            <a:solidFill>
              <a:srgbClr val="1E2640"/>
            </a:solidFill>
            <a:prstDash val="solid"/>
          </a:ln>
        </p:spPr>
      </p:sp>
      <p:sp>
        <p:nvSpPr>
          <p:cNvPr id="14" name="Text 11"/>
          <p:cNvSpPr/>
          <p:nvPr/>
        </p:nvSpPr>
        <p:spPr>
          <a:xfrm>
            <a:off x="274320"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F0F2F8"/>
                </a:solidFill>
                <a:latin typeface="Arial" pitchFamily="34" charset="0"/>
                <a:ea typeface="Arial" pitchFamily="34" charset="-122"/>
                <a:cs typeface="Arial" pitchFamily="34" charset="-120"/>
              </a:rPr>
              <a:t>After any disruption is fully resolved (new flight confirmed, hotel shifted, cab rescheduled), the affected itinerary days are completely rebuilt from scratch — not just patched. The Ollama LLM is called with the new time constraints and rebuilds a coherent sequence of events that fits the new timeline. If the user now lands at 6:30 PM instead of 2:00 PM, the afternoon museum visit is removed, the evening plan is rebuilt around the new arrival, and a fresh complete day is presented.</a:t>
            </a:r>
            <a:endParaRPr lang="en-US" sz="1150" dirty="0"/>
          </a:p>
        </p:txBody>
      </p:sp>
      <p:sp>
        <p:nvSpPr>
          <p:cNvPr id="15" name="Text 12"/>
          <p:cNvSpPr/>
          <p:nvPr/>
        </p:nvSpPr>
        <p:spPr>
          <a:xfrm>
            <a:off x="3200400"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USER IMPACT</a:t>
            </a:r>
            <a:endParaRPr lang="en-US" sz="800" dirty="0"/>
          </a:p>
        </p:txBody>
      </p:sp>
      <p:sp>
        <p:nvSpPr>
          <p:cNvPr id="16" name="Shape 13"/>
          <p:cNvSpPr/>
          <p:nvPr/>
        </p:nvSpPr>
        <p:spPr>
          <a:xfrm>
            <a:off x="3200400" y="1847088"/>
            <a:ext cx="2834640" cy="2377440"/>
          </a:xfrm>
          <a:prstGeom prst="rect">
            <a:avLst/>
          </a:prstGeom>
          <a:solidFill>
            <a:srgbClr val="0F1320"/>
          </a:solidFill>
          <a:ln w="12700">
            <a:solidFill>
              <a:srgbClr val="1E2640"/>
            </a:solidFill>
            <a:prstDash val="solid"/>
          </a:ln>
        </p:spPr>
      </p:sp>
      <p:sp>
        <p:nvSpPr>
          <p:cNvPr id="17" name="Text 14"/>
          <p:cNvSpPr/>
          <p:nvPr/>
        </p:nvSpPr>
        <p:spPr>
          <a:xfrm>
            <a:off x="3310128"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22C55E"/>
                </a:solidFill>
                <a:latin typeface="Arial" pitchFamily="34" charset="0"/>
                <a:ea typeface="Arial" pitchFamily="34" charset="-122"/>
                <a:cs typeface="Arial" pitchFamily="34" charset="-120"/>
              </a:rPr>
              <a:t>The feeling of being in control even when things go wrong. A patched itinerary (where some events now have wrong times) is almost as stressful as no itinerary. A fully rebuilt itinerary that makes sense again is genuinely reassuring. This is the difference between a band-aid and a fix.</a:t>
            </a:r>
            <a:endParaRPr lang="en-US" sz="1150" dirty="0"/>
          </a:p>
        </p:txBody>
      </p:sp>
      <p:sp>
        <p:nvSpPr>
          <p:cNvPr id="18" name="Text 15"/>
          <p:cNvSpPr/>
          <p:nvPr/>
        </p:nvSpPr>
        <p:spPr>
          <a:xfrm>
            <a:off x="6236208" y="1600200"/>
            <a:ext cx="2834640" cy="201168"/>
          </a:xfrm>
          <a:prstGeom prst="rect">
            <a:avLst/>
          </a:prstGeom>
          <a:noFill/>
          <a:ln/>
        </p:spPr>
        <p:txBody>
          <a:bodyPr wrap="square" lIns="0" tIns="0" rIns="0" bIns="0" rtlCol="0" anchor="ctr"/>
          <a:lstStyle/>
          <a:p>
            <a:pPr indent="0" marL="0">
              <a:buNone/>
            </a:pPr>
            <a:r>
              <a:rPr lang="en-US" sz="800" b="1" spc="400" kern="0" dirty="0">
                <a:solidFill>
                  <a:srgbClr val="4A5568"/>
                </a:solidFill>
                <a:latin typeface="Arial" pitchFamily="34" charset="0"/>
                <a:ea typeface="Arial" pitchFamily="34" charset="-122"/>
                <a:cs typeface="Arial" pitchFamily="34" charset="-120"/>
              </a:rPr>
              <a:t>HOW TO BUILD</a:t>
            </a:r>
            <a:endParaRPr lang="en-US" sz="800" dirty="0"/>
          </a:p>
        </p:txBody>
      </p:sp>
      <p:sp>
        <p:nvSpPr>
          <p:cNvPr id="19" name="Shape 16"/>
          <p:cNvSpPr/>
          <p:nvPr/>
        </p:nvSpPr>
        <p:spPr>
          <a:xfrm>
            <a:off x="6236208" y="1847088"/>
            <a:ext cx="2834640" cy="2377440"/>
          </a:xfrm>
          <a:prstGeom prst="rect">
            <a:avLst/>
          </a:prstGeom>
          <a:solidFill>
            <a:srgbClr val="0F1320"/>
          </a:solidFill>
          <a:ln w="12700">
            <a:solidFill>
              <a:srgbClr val="1E2640"/>
            </a:solidFill>
            <a:prstDash val="solid"/>
          </a:ln>
        </p:spPr>
      </p:sp>
      <p:sp>
        <p:nvSpPr>
          <p:cNvPr id="20" name="Text 17"/>
          <p:cNvSpPr/>
          <p:nvPr/>
        </p:nvSpPr>
        <p:spPr>
          <a:xfrm>
            <a:off x="6345936" y="1938528"/>
            <a:ext cx="2633472" cy="2194560"/>
          </a:xfrm>
          <a:prstGeom prst="rect">
            <a:avLst/>
          </a:prstGeom>
          <a:noFill/>
          <a:ln/>
        </p:spPr>
        <p:txBody>
          <a:bodyPr wrap="square" lIns="0" tIns="0" rIns="0" bIns="0" rtlCol="0" anchor="t"/>
          <a:lstStyle/>
          <a:p>
            <a:pPr indent="0" marL="0">
              <a:lnSpc>
                <a:spcPct val="130000"/>
              </a:lnSpc>
              <a:buNone/>
            </a:pPr>
            <a:r>
              <a:rPr lang="en-US" sz="1150" dirty="0">
                <a:solidFill>
                  <a:srgbClr val="60A5FA"/>
                </a:solidFill>
                <a:latin typeface="Arial" pitchFamily="34" charset="0"/>
                <a:ea typeface="Arial" pitchFamily="34" charset="-122"/>
                <a:cs typeface="Arial" pitchFamily="34" charset="-120"/>
              </a:rPr>
              <a:t>1. After DisruptionResolution is confirmed: delete all ItineraryDay.events[] for affected dates.</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2. Build new prompt context: original trip preferences + new flight arrival time + remaining trip duration.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3. Call Ollama: 'Rebuild day plan for {date}. User arrives at {location} at {newArrivalTime}. Original preferences: {prefs}. Return full day schedule in JSON.'</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4. Parse response → save new events to ItineraryDay DB record.</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5. Push updated itinerary to UI with subtle animation showing 'Itinerary updated' banner.</a:t>
            </a:r>
            <a:endParaRPr lang="en-US" sz="1150" dirty="0"/>
          </a:p>
          <a:p>
            <a:pPr indent="0" marL="0">
              <a:lnSpc>
                <a:spcPct val="130000"/>
              </a:lnSpc>
              <a:buNone/>
            </a:pPr>
            <a:r>
              <a:rPr lang="en-US" sz="1150" dirty="0">
                <a:solidFill>
                  <a:srgbClr val="60A5FA"/>
                </a:solidFill>
                <a:latin typeface="Arial" pitchFamily="34" charset="0"/>
                <a:ea typeface="Arial" pitchFamily="34" charset="-122"/>
                <a:cs typeface="Arial" pitchFamily="34" charset="-120"/>
              </a:rPr>
              <a:t>6. Previous version saved in ItineraryDay.previousVersion JSON field (allows undo).</a:t>
            </a:r>
            <a:endParaRPr lang="en-US" sz="1150" dirty="0"/>
          </a:p>
        </p:txBody>
      </p:sp>
      <p:sp>
        <p:nvSpPr>
          <p:cNvPr id="21" name="Shape 18"/>
          <p:cNvSpPr/>
          <p:nvPr/>
        </p:nvSpPr>
        <p:spPr>
          <a:xfrm>
            <a:off x="164592" y="4315968"/>
            <a:ext cx="8814816" cy="658368"/>
          </a:xfrm>
          <a:prstGeom prst="rect">
            <a:avLst/>
          </a:prstGeom>
          <a:solidFill>
            <a:srgbClr val="161B2E"/>
          </a:solidFill>
          <a:ln w="12700">
            <a:solidFill>
              <a:srgbClr val="1E2640"/>
            </a:solidFill>
            <a:prstDash val="solid"/>
          </a:ln>
        </p:spPr>
      </p:sp>
      <p:sp>
        <p:nvSpPr>
          <p:cNvPr id="22" name="Text 19"/>
          <p:cNvSpPr/>
          <p:nvPr/>
        </p:nvSpPr>
        <p:spPr>
          <a:xfrm>
            <a:off x="292608" y="4315968"/>
            <a:ext cx="1463040" cy="658368"/>
          </a:xfrm>
          <a:prstGeom prst="rect">
            <a:avLst/>
          </a:prstGeom>
          <a:noFill/>
          <a:ln/>
        </p:spPr>
        <p:txBody>
          <a:bodyPr wrap="square" lIns="0" tIns="0" rIns="0" bIns="0" rtlCol="0" anchor="ctr"/>
          <a:lstStyle/>
          <a:p>
            <a:pPr indent="0" marL="0">
              <a:buNone/>
            </a:pPr>
            <a:r>
              <a:rPr lang="en-US" sz="800" b="1" spc="300" kern="0" dirty="0">
                <a:solidFill>
                  <a:srgbClr val="4A5568"/>
                </a:solidFill>
                <a:latin typeface="Arial" pitchFamily="34" charset="0"/>
                <a:ea typeface="Arial" pitchFamily="34" charset="-122"/>
                <a:cs typeface="Arial" pitchFamily="34" charset="-120"/>
              </a:rPr>
              <a:t>STACK  /  APIs  →  </a:t>
            </a:r>
            <a:endParaRPr lang="en-US" sz="800" dirty="0"/>
          </a:p>
        </p:txBody>
      </p:sp>
      <p:sp>
        <p:nvSpPr>
          <p:cNvPr id="23" name="Text 20"/>
          <p:cNvSpPr/>
          <p:nvPr/>
        </p:nvSpPr>
        <p:spPr>
          <a:xfrm>
            <a:off x="1737360" y="4315968"/>
            <a:ext cx="7132320" cy="658368"/>
          </a:xfrm>
          <a:prstGeom prst="rect">
            <a:avLst/>
          </a:prstGeom>
          <a:noFill/>
          <a:ln/>
        </p:spPr>
        <p:txBody>
          <a:bodyPr wrap="square" lIns="0" tIns="0" rIns="0" bIns="0" rtlCol="0" anchor="ctr"/>
          <a:lstStyle/>
          <a:p>
            <a:pPr indent="0" marL="0">
              <a:buNone/>
            </a:pPr>
            <a:r>
              <a:rPr lang="en-US" sz="1050" dirty="0">
                <a:solidFill>
                  <a:srgbClr val="F59E0B"/>
                </a:solidFill>
                <a:latin typeface="Arial" pitchFamily="34" charset="0"/>
                <a:ea typeface="Arial" pitchFamily="34" charset="-122"/>
                <a:cs typeface="Arial" pitchFamily="34" charset="-120"/>
              </a:rPr>
              <a:t>Ollama LLM (local, rebuilds full day from new constraints)  ·  Prisma DB (save rebuilt day, preserve previous version)  ·  WebSocket (push updated itinerary to UI in real time)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90C14"/>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59E0B"/>
          </a:solidFill>
          <a:ln w="12700">
            <a:solidFill>
              <a:srgbClr val="F59E0B"/>
            </a:solidFill>
            <a:prstDash val="solid"/>
          </a:ln>
        </p:spPr>
      </p:sp>
      <p:sp>
        <p:nvSpPr>
          <p:cNvPr id="3" name="Text 1"/>
          <p:cNvSpPr/>
          <p:nvPr/>
        </p:nvSpPr>
        <p:spPr>
          <a:xfrm>
            <a:off x="228600" y="457200"/>
            <a:ext cx="8686800" cy="685800"/>
          </a:xfrm>
          <a:prstGeom prst="rect">
            <a:avLst/>
          </a:prstGeom>
          <a:noFill/>
          <a:ln/>
        </p:spPr>
        <p:txBody>
          <a:bodyPr wrap="square" lIns="0" tIns="0" rIns="0" bIns="0" rtlCol="0" anchor="ctr"/>
          <a:lstStyle/>
          <a:p>
            <a:pPr algn="ctr" indent="0" marL="0">
              <a:buNone/>
            </a:pPr>
            <a:r>
              <a:rPr lang="en-US" sz="2800" b="1" dirty="0">
                <a:solidFill>
                  <a:srgbClr val="F0F2F8"/>
                </a:solidFill>
                <a:latin typeface="Arial" pitchFamily="34" charset="0"/>
                <a:ea typeface="Arial" pitchFamily="34" charset="-122"/>
                <a:cs typeface="Arial" pitchFamily="34" charset="-120"/>
              </a:rPr>
              <a:t>21 Features. 3 Modules. 0 Paid APIs.</a:t>
            </a:r>
            <a:endParaRPr lang="en-US" sz="2800" dirty="0"/>
          </a:p>
        </p:txBody>
      </p:sp>
      <p:sp>
        <p:nvSpPr>
          <p:cNvPr id="4" name="Text 2"/>
          <p:cNvSpPr/>
          <p:nvPr/>
        </p:nvSpPr>
        <p:spPr>
          <a:xfrm>
            <a:off x="228600" y="1143000"/>
            <a:ext cx="8686800" cy="365760"/>
          </a:xfrm>
          <a:prstGeom prst="rect">
            <a:avLst/>
          </a:prstGeom>
          <a:noFill/>
          <a:ln/>
        </p:spPr>
        <p:txBody>
          <a:bodyPr wrap="square" lIns="0" tIns="0" rIns="0" bIns="0" rtlCol="0" anchor="ctr"/>
          <a:lstStyle/>
          <a:p>
            <a:pPr algn="ctr" indent="0" marL="0">
              <a:buNone/>
            </a:pPr>
            <a:r>
              <a:rPr lang="en-US" sz="1500" i="1" dirty="0">
                <a:solidFill>
                  <a:srgbClr val="8892A4"/>
                </a:solidFill>
                <a:latin typeface="Arial" pitchFamily="34" charset="0"/>
                <a:ea typeface="Arial" pitchFamily="34" charset="-122"/>
                <a:cs typeface="Arial" pitchFamily="34" charset="-120"/>
              </a:rPr>
              <a:t>Everything runs offline. The demo never fails.</a:t>
            </a:r>
            <a:endParaRPr lang="en-US" sz="1500" dirty="0"/>
          </a:p>
        </p:txBody>
      </p:sp>
      <p:sp>
        <p:nvSpPr>
          <p:cNvPr id="5" name="Shape 3"/>
          <p:cNvSpPr/>
          <p:nvPr/>
        </p:nvSpPr>
        <p:spPr>
          <a:xfrm>
            <a:off x="228600" y="1691640"/>
            <a:ext cx="2743200" cy="1463040"/>
          </a:xfrm>
          <a:prstGeom prst="rect">
            <a:avLst/>
          </a:prstGeom>
          <a:solidFill>
            <a:srgbClr val="0D1F0E"/>
          </a:solidFill>
          <a:ln w="12700">
            <a:solidFill>
              <a:srgbClr val="22C55E"/>
            </a:solidFill>
            <a:prstDash val="solid"/>
          </a:ln>
        </p:spPr>
      </p:sp>
      <p:sp>
        <p:nvSpPr>
          <p:cNvPr id="6" name="Shape 4"/>
          <p:cNvSpPr/>
          <p:nvPr/>
        </p:nvSpPr>
        <p:spPr>
          <a:xfrm>
            <a:off x="228600" y="1691640"/>
            <a:ext cx="50292" cy="1463040"/>
          </a:xfrm>
          <a:prstGeom prst="rect">
            <a:avLst/>
          </a:prstGeom>
          <a:solidFill>
            <a:srgbClr val="22C55E"/>
          </a:solidFill>
          <a:ln w="12700">
            <a:solidFill>
              <a:srgbClr val="22C55E"/>
            </a:solidFill>
            <a:prstDash val="solid"/>
          </a:ln>
        </p:spPr>
      </p:sp>
      <p:sp>
        <p:nvSpPr>
          <p:cNvPr id="7" name="Text 5"/>
          <p:cNvSpPr/>
          <p:nvPr/>
        </p:nvSpPr>
        <p:spPr>
          <a:xfrm>
            <a:off x="365760" y="1783080"/>
            <a:ext cx="2468880" cy="274320"/>
          </a:xfrm>
          <a:prstGeom prst="rect">
            <a:avLst/>
          </a:prstGeom>
          <a:noFill/>
          <a:ln/>
        </p:spPr>
        <p:txBody>
          <a:bodyPr wrap="square" lIns="0" tIns="0" rIns="0" bIns="0" rtlCol="0" anchor="ctr"/>
          <a:lstStyle/>
          <a:p>
            <a:pPr indent="0" marL="0">
              <a:buNone/>
            </a:pPr>
            <a:r>
              <a:rPr lang="en-US" sz="1200" b="1" dirty="0">
                <a:solidFill>
                  <a:srgbClr val="22C55E"/>
                </a:solidFill>
                <a:latin typeface="Arial" pitchFamily="34" charset="0"/>
                <a:ea typeface="Arial" pitchFamily="34" charset="-122"/>
                <a:cs typeface="Arial" pitchFamily="34" charset="-120"/>
              </a:rPr>
              <a:t>Module 1</a:t>
            </a:r>
            <a:endParaRPr lang="en-US" sz="1200" dirty="0"/>
          </a:p>
        </p:txBody>
      </p:sp>
      <p:sp>
        <p:nvSpPr>
          <p:cNvPr id="8" name="Text 6"/>
          <p:cNvSpPr/>
          <p:nvPr/>
        </p:nvSpPr>
        <p:spPr>
          <a:xfrm>
            <a:off x="365760" y="2084832"/>
            <a:ext cx="2468880" cy="411480"/>
          </a:xfrm>
          <a:prstGeom prst="rect">
            <a:avLst/>
          </a:prstGeom>
          <a:noFill/>
          <a:ln/>
        </p:spPr>
        <p:txBody>
          <a:bodyPr wrap="square" lIns="0" tIns="0" rIns="0" bIns="0" rtlCol="0" anchor="ctr"/>
          <a:lstStyle/>
          <a:p>
            <a:pPr indent="0" marL="0">
              <a:buNone/>
            </a:pPr>
            <a:r>
              <a:rPr lang="en-US" sz="1100" dirty="0">
                <a:solidFill>
                  <a:srgbClr val="F0F2F8"/>
                </a:solidFill>
                <a:latin typeface="Arial" pitchFamily="34" charset="0"/>
                <a:ea typeface="Arial" pitchFamily="34" charset="-122"/>
                <a:cs typeface="Arial" pitchFamily="34" charset="-120"/>
              </a:rPr>
              <a:t>Smart Itinerary Agent</a:t>
            </a:r>
            <a:endParaRPr lang="en-US" sz="1100" dirty="0"/>
          </a:p>
        </p:txBody>
      </p:sp>
      <p:sp>
        <p:nvSpPr>
          <p:cNvPr id="9" name="Text 7"/>
          <p:cNvSpPr/>
          <p:nvPr/>
        </p:nvSpPr>
        <p:spPr>
          <a:xfrm>
            <a:off x="365760" y="2606040"/>
            <a:ext cx="2468880" cy="411480"/>
          </a:xfrm>
          <a:prstGeom prst="rect">
            <a:avLst/>
          </a:prstGeom>
          <a:noFill/>
          <a:ln/>
        </p:spPr>
        <p:txBody>
          <a:bodyPr wrap="square" lIns="0" tIns="0" rIns="0" bIns="0" rtlCol="0" anchor="ctr"/>
          <a:lstStyle/>
          <a:p>
            <a:pPr indent="0" marL="0">
              <a:buNone/>
            </a:pPr>
            <a:r>
              <a:rPr lang="en-US" sz="2200" b="1" dirty="0">
                <a:solidFill>
                  <a:srgbClr val="22C55E"/>
                </a:solidFill>
                <a:latin typeface="Arial" pitchFamily="34" charset="0"/>
                <a:ea typeface="Arial" pitchFamily="34" charset="-122"/>
                <a:cs typeface="Arial" pitchFamily="34" charset="-120"/>
              </a:rPr>
              <a:t>8 features</a:t>
            </a:r>
            <a:endParaRPr lang="en-US" sz="2200" dirty="0"/>
          </a:p>
        </p:txBody>
      </p:sp>
      <p:sp>
        <p:nvSpPr>
          <p:cNvPr id="10" name="Shape 8"/>
          <p:cNvSpPr/>
          <p:nvPr/>
        </p:nvSpPr>
        <p:spPr>
          <a:xfrm>
            <a:off x="3154680" y="1691640"/>
            <a:ext cx="2743200" cy="1463040"/>
          </a:xfrm>
          <a:prstGeom prst="rect">
            <a:avLst/>
          </a:prstGeom>
          <a:solidFill>
            <a:srgbClr val="1A1633"/>
          </a:solidFill>
          <a:ln w="12700">
            <a:solidFill>
              <a:srgbClr val="A78BFA"/>
            </a:solidFill>
            <a:prstDash val="solid"/>
          </a:ln>
        </p:spPr>
      </p:sp>
      <p:sp>
        <p:nvSpPr>
          <p:cNvPr id="11" name="Shape 9"/>
          <p:cNvSpPr/>
          <p:nvPr/>
        </p:nvSpPr>
        <p:spPr>
          <a:xfrm>
            <a:off x="3154680" y="1691640"/>
            <a:ext cx="50292" cy="1463040"/>
          </a:xfrm>
          <a:prstGeom prst="rect">
            <a:avLst/>
          </a:prstGeom>
          <a:solidFill>
            <a:srgbClr val="A78BFA"/>
          </a:solidFill>
          <a:ln w="12700">
            <a:solidFill>
              <a:srgbClr val="A78BFA"/>
            </a:solidFill>
            <a:prstDash val="solid"/>
          </a:ln>
        </p:spPr>
      </p:sp>
      <p:sp>
        <p:nvSpPr>
          <p:cNvPr id="12" name="Text 10"/>
          <p:cNvSpPr/>
          <p:nvPr/>
        </p:nvSpPr>
        <p:spPr>
          <a:xfrm>
            <a:off x="3291840" y="1783080"/>
            <a:ext cx="2468880" cy="274320"/>
          </a:xfrm>
          <a:prstGeom prst="rect">
            <a:avLst/>
          </a:prstGeom>
          <a:noFill/>
          <a:ln/>
        </p:spPr>
        <p:txBody>
          <a:bodyPr wrap="square" lIns="0" tIns="0" rIns="0" bIns="0" rtlCol="0" anchor="ctr"/>
          <a:lstStyle/>
          <a:p>
            <a:pPr indent="0" marL="0">
              <a:buNone/>
            </a:pPr>
            <a:r>
              <a:rPr lang="en-US" sz="1200" b="1" dirty="0">
                <a:solidFill>
                  <a:srgbClr val="A78BFA"/>
                </a:solidFill>
                <a:latin typeface="Arial" pitchFamily="34" charset="0"/>
                <a:ea typeface="Arial" pitchFamily="34" charset="-122"/>
                <a:cs typeface="Arial" pitchFamily="34" charset="-120"/>
              </a:rPr>
              <a:t>Module 2</a:t>
            </a:r>
            <a:endParaRPr lang="en-US" sz="1200" dirty="0"/>
          </a:p>
        </p:txBody>
      </p:sp>
      <p:sp>
        <p:nvSpPr>
          <p:cNvPr id="13" name="Text 11"/>
          <p:cNvSpPr/>
          <p:nvPr/>
        </p:nvSpPr>
        <p:spPr>
          <a:xfrm>
            <a:off x="3291840" y="2084832"/>
            <a:ext cx="2468880" cy="411480"/>
          </a:xfrm>
          <a:prstGeom prst="rect">
            <a:avLst/>
          </a:prstGeom>
          <a:noFill/>
          <a:ln/>
        </p:spPr>
        <p:txBody>
          <a:bodyPr wrap="square" lIns="0" tIns="0" rIns="0" bIns="0" rtlCol="0" anchor="ctr"/>
          <a:lstStyle/>
          <a:p>
            <a:pPr indent="0" marL="0">
              <a:buNone/>
            </a:pPr>
            <a:r>
              <a:rPr lang="en-US" sz="1100" dirty="0">
                <a:solidFill>
                  <a:srgbClr val="F0F2F8"/>
                </a:solidFill>
                <a:latin typeface="Arial" pitchFamily="34" charset="0"/>
                <a:ea typeface="Arial" pitchFamily="34" charset="-122"/>
                <a:cs typeface="Arial" pitchFamily="34" charset="-120"/>
              </a:rPr>
              <a:t>Multilingual + Local Intelligence</a:t>
            </a:r>
            <a:endParaRPr lang="en-US" sz="1100" dirty="0"/>
          </a:p>
        </p:txBody>
      </p:sp>
      <p:sp>
        <p:nvSpPr>
          <p:cNvPr id="14" name="Text 12"/>
          <p:cNvSpPr/>
          <p:nvPr/>
        </p:nvSpPr>
        <p:spPr>
          <a:xfrm>
            <a:off x="3291840" y="2606040"/>
            <a:ext cx="2468880" cy="411480"/>
          </a:xfrm>
          <a:prstGeom prst="rect">
            <a:avLst/>
          </a:prstGeom>
          <a:noFill/>
          <a:ln/>
        </p:spPr>
        <p:txBody>
          <a:bodyPr wrap="square" lIns="0" tIns="0" rIns="0" bIns="0" rtlCol="0" anchor="ctr"/>
          <a:lstStyle/>
          <a:p>
            <a:pPr indent="0" marL="0">
              <a:buNone/>
            </a:pPr>
            <a:r>
              <a:rPr lang="en-US" sz="2200" b="1" dirty="0">
                <a:solidFill>
                  <a:srgbClr val="A78BFA"/>
                </a:solidFill>
                <a:latin typeface="Arial" pitchFamily="34" charset="0"/>
                <a:ea typeface="Arial" pitchFamily="34" charset="-122"/>
                <a:cs typeface="Arial" pitchFamily="34" charset="-120"/>
              </a:rPr>
              <a:t>6 features</a:t>
            </a:r>
            <a:endParaRPr lang="en-US" sz="2200" dirty="0"/>
          </a:p>
        </p:txBody>
      </p:sp>
      <p:sp>
        <p:nvSpPr>
          <p:cNvPr id="15" name="Shape 13"/>
          <p:cNvSpPr/>
          <p:nvPr/>
        </p:nvSpPr>
        <p:spPr>
          <a:xfrm>
            <a:off x="6080760" y="1691640"/>
            <a:ext cx="2743200" cy="1463040"/>
          </a:xfrm>
          <a:prstGeom prst="rect">
            <a:avLst/>
          </a:prstGeom>
          <a:solidFill>
            <a:srgbClr val="1F1200"/>
          </a:solidFill>
          <a:ln w="12700">
            <a:solidFill>
              <a:srgbClr val="F59E0B"/>
            </a:solidFill>
            <a:prstDash val="solid"/>
          </a:ln>
        </p:spPr>
      </p:sp>
      <p:sp>
        <p:nvSpPr>
          <p:cNvPr id="16" name="Shape 14"/>
          <p:cNvSpPr/>
          <p:nvPr/>
        </p:nvSpPr>
        <p:spPr>
          <a:xfrm>
            <a:off x="6080760" y="1691640"/>
            <a:ext cx="50292" cy="1463040"/>
          </a:xfrm>
          <a:prstGeom prst="rect">
            <a:avLst/>
          </a:prstGeom>
          <a:solidFill>
            <a:srgbClr val="F59E0B"/>
          </a:solidFill>
          <a:ln w="12700">
            <a:solidFill>
              <a:srgbClr val="F59E0B"/>
            </a:solidFill>
            <a:prstDash val="solid"/>
          </a:ln>
        </p:spPr>
      </p:sp>
      <p:sp>
        <p:nvSpPr>
          <p:cNvPr id="17" name="Text 15"/>
          <p:cNvSpPr/>
          <p:nvPr/>
        </p:nvSpPr>
        <p:spPr>
          <a:xfrm>
            <a:off x="6217920" y="1783080"/>
            <a:ext cx="2468880" cy="274320"/>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Module 3</a:t>
            </a:r>
            <a:endParaRPr lang="en-US" sz="1200" dirty="0"/>
          </a:p>
        </p:txBody>
      </p:sp>
      <p:sp>
        <p:nvSpPr>
          <p:cNvPr id="18" name="Text 16"/>
          <p:cNvSpPr/>
          <p:nvPr/>
        </p:nvSpPr>
        <p:spPr>
          <a:xfrm>
            <a:off x="6217920" y="2084832"/>
            <a:ext cx="2468880" cy="411480"/>
          </a:xfrm>
          <a:prstGeom prst="rect">
            <a:avLst/>
          </a:prstGeom>
          <a:noFill/>
          <a:ln/>
        </p:spPr>
        <p:txBody>
          <a:bodyPr wrap="square" lIns="0" tIns="0" rIns="0" bIns="0" rtlCol="0" anchor="ctr"/>
          <a:lstStyle/>
          <a:p>
            <a:pPr indent="0" marL="0">
              <a:buNone/>
            </a:pPr>
            <a:r>
              <a:rPr lang="en-US" sz="1100" dirty="0">
                <a:solidFill>
                  <a:srgbClr val="F0F2F8"/>
                </a:solidFill>
                <a:latin typeface="Arial" pitchFamily="34" charset="0"/>
                <a:ea typeface="Arial" pitchFamily="34" charset="-122"/>
                <a:cs typeface="Arial" pitchFamily="34" charset="-120"/>
              </a:rPr>
              <a:t>✨ Disruption Shield</a:t>
            </a:r>
            <a:endParaRPr lang="en-US" sz="1100" dirty="0"/>
          </a:p>
        </p:txBody>
      </p:sp>
      <p:sp>
        <p:nvSpPr>
          <p:cNvPr id="19" name="Text 17"/>
          <p:cNvSpPr/>
          <p:nvPr/>
        </p:nvSpPr>
        <p:spPr>
          <a:xfrm>
            <a:off x="6217920" y="2606040"/>
            <a:ext cx="2468880" cy="411480"/>
          </a:xfrm>
          <a:prstGeom prst="rect">
            <a:avLst/>
          </a:prstGeom>
          <a:noFill/>
          <a:ln/>
        </p:spPr>
        <p:txBody>
          <a:bodyPr wrap="square" lIns="0" tIns="0" rIns="0" bIns="0" rtlCol="0" anchor="ctr"/>
          <a:lstStyle/>
          <a:p>
            <a:pPr indent="0" marL="0">
              <a:buNone/>
            </a:pPr>
            <a:r>
              <a:rPr lang="en-US" sz="2200" b="1" dirty="0">
                <a:solidFill>
                  <a:srgbClr val="F59E0B"/>
                </a:solidFill>
                <a:latin typeface="Arial" pitchFamily="34" charset="0"/>
                <a:ea typeface="Arial" pitchFamily="34" charset="-122"/>
                <a:cs typeface="Arial" pitchFamily="34" charset="-120"/>
              </a:rPr>
              <a:t>7 features</a:t>
            </a:r>
            <a:endParaRPr lang="en-US" sz="2200" dirty="0"/>
          </a:p>
        </p:txBody>
      </p:sp>
      <p:sp>
        <p:nvSpPr>
          <p:cNvPr id="20" name="Shape 18"/>
          <p:cNvSpPr/>
          <p:nvPr/>
        </p:nvSpPr>
        <p:spPr>
          <a:xfrm>
            <a:off x="228600" y="3337560"/>
            <a:ext cx="4114800" cy="457200"/>
          </a:xfrm>
          <a:prstGeom prst="rect">
            <a:avLst/>
          </a:prstGeom>
          <a:solidFill>
            <a:srgbClr val="0F1320"/>
          </a:solidFill>
          <a:ln w="12700">
            <a:solidFill>
              <a:srgbClr val="1E2640"/>
            </a:solidFill>
            <a:prstDash val="solid"/>
          </a:ln>
        </p:spPr>
      </p:sp>
      <p:sp>
        <p:nvSpPr>
          <p:cNvPr id="21" name="Text 19"/>
          <p:cNvSpPr/>
          <p:nvPr/>
        </p:nvSpPr>
        <p:spPr>
          <a:xfrm>
            <a:off x="338328" y="3337560"/>
            <a:ext cx="1005840" cy="457200"/>
          </a:xfrm>
          <a:prstGeom prst="rect">
            <a:avLst/>
          </a:prstGeom>
          <a:noFill/>
          <a:ln/>
        </p:spPr>
        <p:txBody>
          <a:bodyPr wrap="square" lIns="0" tIns="0" rIns="0" bIns="0" rtlCol="0" anchor="ctr"/>
          <a:lstStyle/>
          <a:p>
            <a:pPr indent="0" marL="0">
              <a:buNone/>
            </a:pPr>
            <a:r>
              <a:rPr lang="en-US" sz="900" b="1" spc="200" kern="0" dirty="0">
                <a:solidFill>
                  <a:srgbClr val="F59E0B"/>
                </a:solidFill>
                <a:latin typeface="Arial" pitchFamily="34" charset="0"/>
                <a:ea typeface="Arial" pitchFamily="34" charset="-122"/>
                <a:cs typeface="Arial" pitchFamily="34" charset="-120"/>
              </a:rPr>
              <a:t>Your story  </a:t>
            </a:r>
            <a:endParaRPr lang="en-US" sz="900" dirty="0"/>
          </a:p>
        </p:txBody>
      </p:sp>
      <p:sp>
        <p:nvSpPr>
          <p:cNvPr id="22" name="Text 20"/>
          <p:cNvSpPr/>
          <p:nvPr/>
        </p:nvSpPr>
        <p:spPr>
          <a:xfrm>
            <a:off x="1234440" y="3337560"/>
            <a:ext cx="3017520" cy="457200"/>
          </a:xfrm>
          <a:prstGeom prst="rect">
            <a:avLst/>
          </a:prstGeom>
          <a:noFill/>
          <a:ln/>
        </p:spPr>
        <p:txBody>
          <a:bodyPr wrap="square" lIns="0" tIns="0" rIns="0" bIns="0" rtlCol="0" anchor="ctr"/>
          <a:lstStyle/>
          <a:p>
            <a:pPr indent="0" marL="0">
              <a:buNone/>
            </a:pPr>
            <a:r>
              <a:rPr lang="en-US" sz="1000" dirty="0">
                <a:solidFill>
                  <a:srgbClr val="8892A4"/>
                </a:solidFill>
                <a:latin typeface="Arial" pitchFamily="34" charset="0"/>
                <a:ea typeface="Arial" pitchFamily="34" charset="-122"/>
                <a:cs typeface="Arial" pitchFamily="34" charset="-120"/>
              </a:rPr>
              <a:t>Sri Lanka return flight cancellation → Feature #20</a:t>
            </a:r>
            <a:endParaRPr lang="en-US" sz="1000" dirty="0"/>
          </a:p>
        </p:txBody>
      </p:sp>
      <p:sp>
        <p:nvSpPr>
          <p:cNvPr id="23" name="Shape 21"/>
          <p:cNvSpPr/>
          <p:nvPr/>
        </p:nvSpPr>
        <p:spPr>
          <a:xfrm>
            <a:off x="4572000" y="3337560"/>
            <a:ext cx="4114800" cy="457200"/>
          </a:xfrm>
          <a:prstGeom prst="rect">
            <a:avLst/>
          </a:prstGeom>
          <a:solidFill>
            <a:srgbClr val="0F1320"/>
          </a:solidFill>
          <a:ln w="12700">
            <a:solidFill>
              <a:srgbClr val="1E2640"/>
            </a:solidFill>
            <a:prstDash val="solid"/>
          </a:ln>
        </p:spPr>
      </p:sp>
      <p:sp>
        <p:nvSpPr>
          <p:cNvPr id="24" name="Text 22"/>
          <p:cNvSpPr/>
          <p:nvPr/>
        </p:nvSpPr>
        <p:spPr>
          <a:xfrm>
            <a:off x="4681728" y="3337560"/>
            <a:ext cx="1005840" cy="457200"/>
          </a:xfrm>
          <a:prstGeom prst="rect">
            <a:avLst/>
          </a:prstGeom>
          <a:noFill/>
          <a:ln/>
        </p:spPr>
        <p:txBody>
          <a:bodyPr wrap="square" lIns="0" tIns="0" rIns="0" bIns="0" rtlCol="0" anchor="ctr"/>
          <a:lstStyle/>
          <a:p>
            <a:pPr indent="0" marL="0">
              <a:buNone/>
            </a:pPr>
            <a:r>
              <a:rPr lang="en-US" sz="900" b="1" spc="200" kern="0" dirty="0">
                <a:solidFill>
                  <a:srgbClr val="F59E0B"/>
                </a:solidFill>
                <a:latin typeface="Arial" pitchFamily="34" charset="0"/>
                <a:ea typeface="Arial" pitchFamily="34" charset="-122"/>
                <a:cs typeface="Arial" pitchFamily="34" charset="-120"/>
              </a:rPr>
              <a:t>Demo moment  </a:t>
            </a:r>
            <a:endParaRPr lang="en-US" sz="900" dirty="0"/>
          </a:p>
        </p:txBody>
      </p:sp>
      <p:sp>
        <p:nvSpPr>
          <p:cNvPr id="25" name="Text 23"/>
          <p:cNvSpPr/>
          <p:nvPr/>
        </p:nvSpPr>
        <p:spPr>
          <a:xfrm>
            <a:off x="5577840" y="3337560"/>
            <a:ext cx="3017520" cy="457200"/>
          </a:xfrm>
          <a:prstGeom prst="rect">
            <a:avLst/>
          </a:prstGeom>
          <a:noFill/>
          <a:ln/>
        </p:spPr>
        <p:txBody>
          <a:bodyPr wrap="square" lIns="0" tIns="0" rIns="0" bIns="0" rtlCol="0" anchor="ctr"/>
          <a:lstStyle/>
          <a:p>
            <a:pPr indent="0" marL="0">
              <a:buNone/>
            </a:pPr>
            <a:r>
              <a:rPr lang="en-US" sz="1000" dirty="0">
                <a:solidFill>
                  <a:srgbClr val="8892A4"/>
                </a:solidFill>
                <a:latin typeface="Arial" pitchFamily="34" charset="0"/>
                <a:ea typeface="Arial" pitchFamily="34" charset="-122"/>
                <a:cs typeface="Arial" pitchFamily="34" charset="-120"/>
              </a:rPr>
              <a:t>Disruption Shield QR card — works 100% offline</a:t>
            </a:r>
            <a:endParaRPr lang="en-US" sz="1000" dirty="0"/>
          </a:p>
        </p:txBody>
      </p:sp>
      <p:sp>
        <p:nvSpPr>
          <p:cNvPr id="26" name="Shape 24"/>
          <p:cNvSpPr/>
          <p:nvPr/>
        </p:nvSpPr>
        <p:spPr>
          <a:xfrm>
            <a:off x="228600" y="3931920"/>
            <a:ext cx="4114800" cy="457200"/>
          </a:xfrm>
          <a:prstGeom prst="rect">
            <a:avLst/>
          </a:prstGeom>
          <a:solidFill>
            <a:srgbClr val="0F1320"/>
          </a:solidFill>
          <a:ln w="12700">
            <a:solidFill>
              <a:srgbClr val="1E2640"/>
            </a:solidFill>
            <a:prstDash val="solid"/>
          </a:ln>
        </p:spPr>
      </p:sp>
      <p:sp>
        <p:nvSpPr>
          <p:cNvPr id="27" name="Text 25"/>
          <p:cNvSpPr/>
          <p:nvPr/>
        </p:nvSpPr>
        <p:spPr>
          <a:xfrm>
            <a:off x="338328" y="3931920"/>
            <a:ext cx="1005840" cy="457200"/>
          </a:xfrm>
          <a:prstGeom prst="rect">
            <a:avLst/>
          </a:prstGeom>
          <a:noFill/>
          <a:ln/>
        </p:spPr>
        <p:txBody>
          <a:bodyPr wrap="square" lIns="0" tIns="0" rIns="0" bIns="0" rtlCol="0" anchor="ctr"/>
          <a:lstStyle/>
          <a:p>
            <a:pPr indent="0" marL="0">
              <a:buNone/>
            </a:pPr>
            <a:r>
              <a:rPr lang="en-US" sz="900" b="1" spc="200" kern="0" dirty="0">
                <a:solidFill>
                  <a:srgbClr val="F59E0B"/>
                </a:solidFill>
                <a:latin typeface="Arial" pitchFamily="34" charset="0"/>
                <a:ea typeface="Arial" pitchFamily="34" charset="-122"/>
                <a:cs typeface="Arial" pitchFamily="34" charset="-120"/>
              </a:rPr>
              <a:t>Stack  </a:t>
            </a:r>
            <a:endParaRPr lang="en-US" sz="900" dirty="0"/>
          </a:p>
        </p:txBody>
      </p:sp>
      <p:sp>
        <p:nvSpPr>
          <p:cNvPr id="28" name="Text 26"/>
          <p:cNvSpPr/>
          <p:nvPr/>
        </p:nvSpPr>
        <p:spPr>
          <a:xfrm>
            <a:off x="1234440" y="3931920"/>
            <a:ext cx="3017520" cy="457200"/>
          </a:xfrm>
          <a:prstGeom prst="rect">
            <a:avLst/>
          </a:prstGeom>
          <a:noFill/>
          <a:ln/>
        </p:spPr>
        <p:txBody>
          <a:bodyPr wrap="square" lIns="0" tIns="0" rIns="0" bIns="0" rtlCol="0" anchor="ctr"/>
          <a:lstStyle/>
          <a:p>
            <a:pPr indent="0" marL="0">
              <a:buNone/>
            </a:pPr>
            <a:r>
              <a:rPr lang="en-US" sz="1000" dirty="0">
                <a:solidFill>
                  <a:srgbClr val="8892A4"/>
                </a:solidFill>
                <a:latin typeface="Arial" pitchFamily="34" charset="0"/>
                <a:ea typeface="Arial" pitchFamily="34" charset="-122"/>
                <a:cs typeface="Arial" pitchFamily="34" charset="-120"/>
              </a:rPr>
              <a:t>Ollama + Open-Meteo + OSM + LibreTranslate + qrcode</a:t>
            </a:r>
            <a:endParaRPr lang="en-US" sz="1000" dirty="0"/>
          </a:p>
        </p:txBody>
      </p:sp>
      <p:sp>
        <p:nvSpPr>
          <p:cNvPr id="29" name="Shape 27"/>
          <p:cNvSpPr/>
          <p:nvPr/>
        </p:nvSpPr>
        <p:spPr>
          <a:xfrm>
            <a:off x="4572000" y="3931920"/>
            <a:ext cx="4114800" cy="457200"/>
          </a:xfrm>
          <a:prstGeom prst="rect">
            <a:avLst/>
          </a:prstGeom>
          <a:solidFill>
            <a:srgbClr val="0F1320"/>
          </a:solidFill>
          <a:ln w="12700">
            <a:solidFill>
              <a:srgbClr val="1E2640"/>
            </a:solidFill>
            <a:prstDash val="solid"/>
          </a:ln>
        </p:spPr>
      </p:sp>
      <p:sp>
        <p:nvSpPr>
          <p:cNvPr id="30" name="Text 28"/>
          <p:cNvSpPr/>
          <p:nvPr/>
        </p:nvSpPr>
        <p:spPr>
          <a:xfrm>
            <a:off x="4681728" y="3931920"/>
            <a:ext cx="1005840" cy="457200"/>
          </a:xfrm>
          <a:prstGeom prst="rect">
            <a:avLst/>
          </a:prstGeom>
          <a:noFill/>
          <a:ln/>
        </p:spPr>
        <p:txBody>
          <a:bodyPr wrap="square" lIns="0" tIns="0" rIns="0" bIns="0" rtlCol="0" anchor="ctr"/>
          <a:lstStyle/>
          <a:p>
            <a:pPr indent="0" marL="0">
              <a:buNone/>
            </a:pPr>
            <a:r>
              <a:rPr lang="en-US" sz="900" b="1" spc="200" kern="0" dirty="0">
                <a:solidFill>
                  <a:srgbClr val="F59E0B"/>
                </a:solidFill>
                <a:latin typeface="Arial" pitchFamily="34" charset="0"/>
                <a:ea typeface="Arial" pitchFamily="34" charset="-122"/>
                <a:cs typeface="Arial" pitchFamily="34" charset="-120"/>
              </a:rPr>
              <a:t>Cost  </a:t>
            </a:r>
            <a:endParaRPr lang="en-US" sz="900" dirty="0"/>
          </a:p>
        </p:txBody>
      </p:sp>
      <p:sp>
        <p:nvSpPr>
          <p:cNvPr id="31" name="Text 29"/>
          <p:cNvSpPr/>
          <p:nvPr/>
        </p:nvSpPr>
        <p:spPr>
          <a:xfrm>
            <a:off x="5577840" y="3931920"/>
            <a:ext cx="3017520" cy="457200"/>
          </a:xfrm>
          <a:prstGeom prst="rect">
            <a:avLst/>
          </a:prstGeom>
          <a:noFill/>
          <a:ln/>
        </p:spPr>
        <p:txBody>
          <a:bodyPr wrap="square" lIns="0" tIns="0" rIns="0" bIns="0" rtlCol="0" anchor="ctr"/>
          <a:lstStyle/>
          <a:p>
            <a:pPr indent="0" marL="0">
              <a:buNone/>
            </a:pPr>
            <a:r>
              <a:rPr lang="en-US" sz="1000" dirty="0">
                <a:solidFill>
                  <a:srgbClr val="8892A4"/>
                </a:solidFill>
                <a:latin typeface="Arial" pitchFamily="34" charset="0"/>
                <a:ea typeface="Arial" pitchFamily="34" charset="-122"/>
                <a:cs typeface="Arial" pitchFamily="34" charset="-120"/>
              </a:rPr>
              <a:t>₹0 / $0 — zero paid APIs required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TripMind — Feature Bible</dc:title>
  <dc:subject>PptxGenJS Presentation</dc:subject>
  <dc:creator>TripMind Team</dc:creator>
  <cp:lastModifiedBy>TripMind Team</cp:lastModifiedBy>
  <cp:revision>1</cp:revision>
  <dcterms:created xsi:type="dcterms:W3CDTF">2026-03-19T13:44:16Z</dcterms:created>
  <dcterms:modified xsi:type="dcterms:W3CDTF">2026-03-19T13:44:16Z</dcterms:modified>
</cp:coreProperties>
</file>